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slides/slide31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32.xml" Type="http://schemas.openxmlformats.org/officeDocument/2006/relationships/slide"/><Relationship Id="rId41" Target="slides/slide33.xml" Type="http://schemas.openxmlformats.org/officeDocument/2006/relationships/slide"/><Relationship Id="rId42" Target="slides/slide34.xml" Type="http://schemas.openxmlformats.org/officeDocument/2006/relationships/slide"/><Relationship Id="rId43" Target="slides/slide35.xml" Type="http://schemas.openxmlformats.org/officeDocument/2006/relationships/slide"/><Relationship Id="rId44" Target="slides/slide36.xml" Type="http://schemas.openxmlformats.org/officeDocument/2006/relationships/slide"/><Relationship Id="rId45" Target="slides/slide37.xml" Type="http://schemas.openxmlformats.org/officeDocument/2006/relationships/slide"/><Relationship Id="rId46" Target="slides/slide38.xml" Type="http://schemas.openxmlformats.org/officeDocument/2006/relationships/slide"/><Relationship Id="rId47" Target="slides/slide39.xml" Type="http://schemas.openxmlformats.org/officeDocument/2006/relationships/slide"/><Relationship Id="rId48" Target="slides/slide40.xml" Type="http://schemas.openxmlformats.org/officeDocument/2006/relationships/slide"/><Relationship Id="rId49" Target="slides/slide41.xml" Type="http://schemas.openxmlformats.org/officeDocument/2006/relationships/slide"/><Relationship Id="rId50" Target="notesSlides/notesSlide1.xml" Type="http://schemas.openxmlformats.org/officeDocument/2006/relationships/notesSlide"/><Relationship Id="rId51" Target="notesSlides/notesSlide2.xml" Type="http://schemas.openxmlformats.org/officeDocument/2006/relationships/notesSlide"/><Relationship Id="rId52" Target="notesSlides/notesSlide3.xml" Type="http://schemas.openxmlformats.org/officeDocument/2006/relationships/notesSlide"/><Relationship Id="rId53" Target="notesSlides/notesSlide4.xml" Type="http://schemas.openxmlformats.org/officeDocument/2006/relationships/notesSlide"/><Relationship Id="rId54" Target="notesSlides/notesSlide5.xml" Type="http://schemas.openxmlformats.org/officeDocument/2006/relationships/notesSlide"/><Relationship Id="rId55" Target="notesSlides/notesSlide6.xml" Type="http://schemas.openxmlformats.org/officeDocument/2006/relationships/notesSlide"/><Relationship Id="rId56" Target="notesSlides/notesSlide7.xml" Type="http://schemas.openxmlformats.org/officeDocument/2006/relationships/notesSlide"/><Relationship Id="rId57" Target="notesSlides/notesSlide8.xml" Type="http://schemas.openxmlformats.org/officeDocument/2006/relationships/notesSlide"/><Relationship Id="rId58" Target="notesSlides/notesSlide9.xml" Type="http://schemas.openxmlformats.org/officeDocument/2006/relationships/notesSlide"/><Relationship Id="rId59" Target="notesSlides/notesSlide10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11.xml" Type="http://schemas.openxmlformats.org/officeDocument/2006/relationships/notesSlide"/><Relationship Id="rId61" Target="notesSlides/notesSlide12.xml" Type="http://schemas.openxmlformats.org/officeDocument/2006/relationships/notesSlide"/><Relationship Id="rId62" Target="notesSlides/notesSlide13.xml" Type="http://schemas.openxmlformats.org/officeDocument/2006/relationships/notesSlide"/><Relationship Id="rId63" Target="notesSlides/notesSlide14.xml" Type="http://schemas.openxmlformats.org/officeDocument/2006/relationships/notesSlide"/><Relationship Id="rId64" Target="notesSlides/notesSlide15.xml" Type="http://schemas.openxmlformats.org/officeDocument/2006/relationships/notesSlide"/><Relationship Id="rId65" Target="notesSlides/notesSlide16.xml" Type="http://schemas.openxmlformats.org/officeDocument/2006/relationships/notesSlide"/><Relationship Id="rId66" Target="notesSlides/notesSlide17.xml" Type="http://schemas.openxmlformats.org/officeDocument/2006/relationships/notesSlide"/><Relationship Id="rId67" Target="notesSlides/notesSlide18.xml" Type="http://schemas.openxmlformats.org/officeDocument/2006/relationships/notesSlide"/><Relationship Id="rId68" Target="notesSlides/notesSlide19.xml" Type="http://schemas.openxmlformats.org/officeDocument/2006/relationships/notesSlide"/><Relationship Id="rId69" Target="notesSlides/notesSlide20.xml" Type="http://schemas.openxmlformats.org/officeDocument/2006/relationships/notesSlide"/><Relationship Id="rId7" Target="theme/theme2.xml" Type="http://schemas.openxmlformats.org/officeDocument/2006/relationships/theme"/><Relationship Id="rId70" Target="notesSlides/notesSlide21.xml" Type="http://schemas.openxmlformats.org/officeDocument/2006/relationships/notesSlide"/><Relationship Id="rId71" Target="notesSlides/notesSlide22.xml" Type="http://schemas.openxmlformats.org/officeDocument/2006/relationships/notesSlide"/><Relationship Id="rId72" Target="notesSlides/notesSlide23.xml" Type="http://schemas.openxmlformats.org/officeDocument/2006/relationships/notesSlide"/><Relationship Id="rId73" Target="notesSlides/notesSlide24.xml" Type="http://schemas.openxmlformats.org/officeDocument/2006/relationships/notesSlide"/><Relationship Id="rId74" Target="notesSlides/notesSlide25.xml" Type="http://schemas.openxmlformats.org/officeDocument/2006/relationships/notesSlide"/><Relationship Id="rId75" Target="notesSlides/notesSlide26.xml" Type="http://schemas.openxmlformats.org/officeDocument/2006/relationships/notesSlide"/><Relationship Id="rId76" Target="notesSlides/notesSlide27.xml" Type="http://schemas.openxmlformats.org/officeDocument/2006/relationships/notesSlide"/><Relationship Id="rId77" Target="notesSlides/notesSlide28.xml" Type="http://schemas.openxmlformats.org/officeDocument/2006/relationships/notesSlide"/><Relationship Id="rId78" Target="notesSlides/notesSlide29.xml" Type="http://schemas.openxmlformats.org/officeDocument/2006/relationships/notesSlide"/><Relationship Id="rId79" Target="notesSlides/notesSlide30.xml" Type="http://schemas.openxmlformats.org/officeDocument/2006/relationships/notesSlide"/><Relationship Id="rId8" Target="slideMasters/slideMaster2.xml" Type="http://schemas.openxmlformats.org/officeDocument/2006/relationships/slideMaster"/><Relationship Id="rId80" Target="notesSlides/notesSlide31.xml" Type="http://schemas.openxmlformats.org/officeDocument/2006/relationships/notesSlide"/><Relationship Id="rId81" Target="notesSlides/notesSlide32.xml" Type="http://schemas.openxmlformats.org/officeDocument/2006/relationships/notesSlide"/><Relationship Id="rId82" Target="notesSlides/notesSlide33.xml" Type="http://schemas.openxmlformats.org/officeDocument/2006/relationships/notesSlide"/><Relationship Id="rId83" Target="notesSlides/notesSlide34.xml" Type="http://schemas.openxmlformats.org/officeDocument/2006/relationships/notesSlide"/><Relationship Id="rId84" Target="notesSlides/notesSlide35.xml" Type="http://schemas.openxmlformats.org/officeDocument/2006/relationships/notesSlide"/><Relationship Id="rId85" Target="notesSlides/notesSlide36.xml" Type="http://schemas.openxmlformats.org/officeDocument/2006/relationships/notesSlide"/><Relationship Id="rId86" Target="notesSlides/notesSlide37.xml" Type="http://schemas.openxmlformats.org/officeDocument/2006/relationships/notesSlide"/><Relationship Id="rId87" Target="notesSlides/notesSlide38.xml" Type="http://schemas.openxmlformats.org/officeDocument/2006/relationships/notesSlide"/><Relationship Id="rId88" Target="notesSlides/notesSlide39.xml" Type="http://schemas.openxmlformats.org/officeDocument/2006/relationships/notesSlide"/><Relationship Id="rId89" Target="notesSlides/notesSlide40.xml" Type="http://schemas.openxmlformats.org/officeDocument/2006/relationships/notesSlide"/><Relationship Id="rId9" Target="slides/slide1.xml" Type="http://schemas.openxmlformats.org/officeDocument/2006/relationships/slide"/><Relationship Id="rId90" Target="notesSlides/notesSlide4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4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4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《WorkBuddy入门到精通》的分享。今天，我们将一起探索一个全新的工具，它将彻底改变我们的工作方式。WorkBuddy不仅仅是一个AI助手，更是一个能真正动手帮你干活的智能体。让我们一起开启属于我们的AI工作新纪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深入了解WorkBuddy之前，我们先来理解一个核心概念：什么是AI智能体？简单来说，AI智能体就是一种能像人一样，感知周围环境，然后自己做决定并采取行动的AI程序。它不再仅仅是回答问题、提供建议，而是真正能够动手去完成任务。这正是AI发展的下一个里程碑，从一个“顾问”变成一个“执行者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提到AI智能体，就不得不提今年初火爆全网的“养虾”热潮。这里的“虾”指的是一款名为OpenClaw的开源AI代理框架。它之所以受欢迎，是因为它能在本地电脑上运行，直接操作你的文件和软件。社区里的开发者们用“养虾”来比喻使用它的过程：搭建环境、配置模型、安装技能，就像养宠物一样有趣。这股热潮也让大家看到了AI执行任务的巨大潜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而，“养虾”虽然有趣，但也暴露了这类技术的普遍痛点。首先是安全风险，一个能控制你电脑的程序，一旦配置不当，后果不堪设想。其次是技术门槛高，需要你有一定的编程和电脑知识，这把大多数普通用户挡在了门外。此外，高昂的API费用和不稳定的性能也限制了它的普及。那么，问题来了：如何才能让这种强大的技术变得安全、易用，真正服务于每一个人呢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针对这些痛点，腾讯给出了自己的答案——WorkBuddy。如果说OpenClaw是需要你自己动手装修的“毛坯房”，那么WorkBuddy就是一个安全、易用、拎包入住的“精装房”。它的定位非常明确，就是面向我们普通办公人员，让每个人都能轻松享受到AI智能体带来的便利，而无需关心复杂的技术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WorkBuddy究竟是什么？官方的定义是：一款全场景职场AI智能体桌面工作台。这句话听起来有点长，但核心很简单：它不仅能听懂你的话，还能像人一样思考，然后直接操作你的电脑文件，最终给你一个可以直接使用的结果。我们的目标就是，你只需要用一句话告诉它你想要什么，它就能帮你完成。大家可以访问官网了解更多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orkBuddy的核心能力体现在这六个方面。首先，它能理解自然语言，你可以用大白话跟它交流。其次，它能自主规划和执行复杂任务。它还支持多任务并行处理，让你效率倍增。无论是文档、表格还是PPT，它都能处理。最关键的是，它能直接操作你授权的本地文件，并最终交付一个可以直接使用的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orkBuddy主要分为两种模式。默认的是工作模式，适合我们大部分办公人员，无论是写报告、做PPT还是处理数据，都能胜任。另一种是编程模式，专门为程序员设计，可以辅助编码、审查代码、理解项目等。这样的设计让它能满足不同用户群体的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orkBuddy和我们平时用的AI聊天工具有什么根本区别呢？这张表格一目了然。传统AI只能给你建议，而WorkBuddy能直接动手干活。传统AI需要你手动操作文件，而WorkBuddy能自动处理。传统AI适合简单任务，而WorkBuddy能搞定复杂流程。最重要的是，传统AI给你的是文字回复，而WorkBuddy给你的是可以直接用的文件和结果。这是从“建议”到“交付”的本质飞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回到我们之前的比喻，WorkBuddy和OpenClaw的对比就像精装房和毛坯房。OpenClaw提供了高度的自由，但需要你有专业的技术能力去配置和维护，安全风险也需要自己承担。而WorkBuddy则是一款开箱即用的产品，它把安全和易用放在首位，通过企业级的安全设计和人工确认环节，在自动化和可控性之间找到了最佳平衡，让普通用户也能安心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orkBuddy的核心设计理念是“帮你干活，但不替你做决定”。我们深知，完全的自动化可能带来失控的风险。因此，我们在关键步骤设置了人工确认环节，确保你始终掌握着最终的决策权。正如我们的产品负责人汪晟杰所说，WorkBuddy是腾讯百分之百自研的产品，我们从底层就为安全和可控性做了周密的设计，而不是简单地套壳一个开源框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接下来，我们进入快速上手环节。使用WorkBuddy非常简单，只需要三步。第一步，下载安装；第二步，登录配置；第三步，发起任务。接下来的几页，我将为大家详细演示这三个步骤。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首先是Windows版本的安装。大家可以访问我们的官网，点击“立即下载”按钮。下载完成后，找到安装包并双击它，就可以启动安装向导了。整个过程非常直观。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启动安装程序后，会看到一个标准的安装向导。你只需要依次点击“同意协议”、选择安装路径（默认即可）、确认文件夹名称，并决定是否创建桌面快捷方式。这些都是常规操作，跟着向导走就行。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最后一步，点击“安装”，然后耐心等待几秒钟。安装完成后，点击“完成”，WorkBuddy就会自动启动，准备好为你服务了。是不是非常简单？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Mac用户的安装过程略有不同。同样是访问官网下载，但需要注意选择正确的版本。如果你的Mac是近几年买的，通常是ARM64架构；如果是较早的型号，可能是X64架构。选错了版本将无法安装，请大家务必注意。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下载完成后，你会得到一个 `.dmg` 文件。双击打开它，会看到一个典型的Mac安装窗口。你只需要做一个简单的动作：把WorkBuddy的图标，用鼠标拖拽到旁边的Applications文件夹里。这个过程就像把文件放进文件夹一样直观。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拖拽完成后，系统会自动将文件拷贝到应用程序文件夹。首次打开时，由于Mac的安全机制，你需要右键点击图标选择“打开”。完成这一步后，以后就可以像启动其他应用一样正常使用WorkBuddy了。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安装完成后，启动WorkBuddy。你会看到一个简洁的登录界面，用微信扫一下码就能完成授权登录，非常方便。登录后，你可以在左下角的头像菜单里设置语言、检查更新等，确保你使用的是最适合你的版本。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登录成功后，我们来熟悉一下WorkBuddy的主界面。整个界面非常简洁，主要分为三个区域：左边是侧边栏，用来管理你的任务；中间是对话区，你在这里和AI交流；右边是结果区，AI完成的所有工作都会在这里展示。这样的布局让你可以一站式完成任务的发起、沟通和验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让我们来发起第一个任务。非常简单，就像聊天一样，在底部的输入框里告诉它你想做什么。比如，你可以说“帮我把这份销售数据生成一个分析报告”。如果你有特定的模型偏好，也可以提前选择。然后点击发送，WorkBuddy就会开始为你工作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orkBuddy支持多任务并行。当一个任务正在执行时，你完全可以开启一个新的任务，让它们同时进行。所有任务都会清晰地列在侧边栏里，你可以像切换浏览器标签页一样，轻松地在不同任务之间切换，查看进度和结果。每个任务都是独立的，不用担心上下文混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掌握了基本操作后，我们来深入了解一下WorkBuddy的核心功能，解锁它的全部潜能。这部分内容将帮助你更高效、更灵活地使用这个强大的工具。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首先是“智能任务管理”，它能帮助大家科学规划每日事务，让我们在快节奏的工作中不再手忙脚乱。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其次是“多维数据分析”，对于管理者来说，这能让我们清晰地看到团队的工作成效，帮助我们更好地优化工作流程和资源分配。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最后是“无缝团队协作”，在远程办公和跨部门合作越来越频繁的今天，一个好用的协作工具至关重要，它能确保信息在团队间的高效流转，减少摩擦和沟通成本。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接下来的时间，我会逐一演示这三个核心功能的具体使用方法。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orkBuddy提供了三种工作模式。第一种是“问一问”模式。在这个模式下，AI只会回答你的问题，帮你分析信息，但绝对不会修改你的任何文件。这是最安全的模式，非常适合你只想了解情况，或者在动手操作前先探探路的场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种是“做一做”模式，这也是默认模式。在这个模式下，AI会直接动手帮你完成任务，比如生成文档、处理表格等。这是效率最高的模式，能直接交付你想要的结果。当然，因为它会修改文件，所以建议你在使用时，对AI的操作范围有清晰的预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种是“想一想”模式，这是我们特别推荐的进阶模式。当你下达一个复杂任务时，AI不会立刻动手，而是会先给你一份详细的“执行计划”，告诉你它打算分几步、做什么。你可以仔细审阅这个计划，确认无误后再让它执行。这种模式在安全和效率之间取得了完美的平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WorkBuddy内置了多个顶尖的AI大模型，就像给了你一个“大脑”选择库。不同的模型擅长不同的任务。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比如，处理Excel和PPT，MiniMax可能更快；处理复杂的长任务，智谱GLM-5更可靠；分析图片，Kimi是专家；日常问答DeepSeek反应迅速；而在中文写作方面，腾讯混元是一个极佳的选择。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学会根据任务类型选择合适的模型，能让你的工作事半功倍，真正做到“术业有专攻”。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确保安全，WorkBuddy引入了“工作目录”的概念。你可以为每个任务指定一个文件夹，AI的所有操作都将被严格限制在这个文件夹内。这就像给AI划定了一个安全的“工作区”，它不会访问区外的任何文件，从而避免了误操作的风险。我们建议大家养成按任务建立独立目录的好习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“技能”是WorkBuddy的一个强大功能。你可以把它理解为一个个预设好的“操作模板”。比如，你可以创建一个“周报生成”技能，定义好周报的格式和要点。以后每次需要写周报，只需调用这个技能，AI就能按照你的模板生成，保证格式统一。WorkBuddy内置了20多种常用技能，你也可以创建自己的技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你需要完成某个专业领域的任务，可以试试“专家中心”。这里面预设了各种角色，比如数据分析师、法律顾问、营销专家等。你只需要选择一个专家，AI就会立刻切换到这个角色的视角，用更专业的知识和口吻来帮你完成任务。这是一个非常简单有效的提效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完成任务后，结果会显示在右侧的结果区。这里有四个视图：“产物”让你看到最终生成的文件；“全部文件”展示工作区的所有文件；“变更”视图会清晰地告诉你文件被修改了哪些地方；“预览”则可以直接查看网页等效果。你完全不需要切换到其他应用，就能在WorkBuddy里完成所有的检查和验收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law远程任务是一个非常酷的功能。通过简单的配置，你就可以在下班路上，用手机通过微信或QQ，给家里或公司的电脑下达任务。比如，让它帮你整理文件、下载资料。所有远程任务都会在一个专门的会话里进行，既方便又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orkBuddy还能通过“连接器”功能连接外部服务。目前已经支持QQ邮箱和腾讯乐享。以QQ邮箱为例，连接后，你就可以直接在WorkBuddy里用自然语言让AI帮你发邮件、查邮件、整理收件箱，再也不用在不同应用之间来回切换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那些需要每天或每周重复做的工作，比如写周报、整理日报，你可以使用“自动化”功能。你只需要设置好任务内容和执行时间，WorkBuddy就会在指定时间自动完成任务，并可以将结果推送到你的手机小程序上。这真正实现了让AI 24小时为你工作。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掌握了基本功能后，我们来分享一些进阶技巧和最佳实践。这些习惯将帮助你从一个新手快速成长为WorkBuddy专家，让你的工作效率再上一个台阶。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列举了8个核心习惯，涵盖了任务管理、效率提升、协作与知识管理等多个维度。建议大家从今天开始尝试，将这些技巧融入到日常的工作流程中，让工具真正成为你得力的助手。剩下的两个习惯，我们将在后续的进阶课程中继续分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沟通和执行的技巧。第一，清晰表达你的需求，告诉它要做什么、有什么材料、期望什么样的结果。第二，小步快跑，把大任务拆成小步骤来做，这样更容易控制和调整。第三，记住对话是多轮的，如果对结果不满意，一定要提出修改意见，通过不断反馈来打磨出完美的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策略和方法。第四，先在本地电脑上充分使用，熟悉了AI的能力和风险后，再尝试使用远程功能。第五，善用“专家”功能，给AI一个专业身份，能显著提升输出质量。第六，给AI看例子，一个好的参考文件比你说一大堆要求都管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关于效率和安全的技巧。第七，善用多任务功能，不同的事情开不同的会话，保持条理清晰。第八，一定要记得备份！虽然AI很强大，但也可能犯错，提前备份能让你安心尝试。第九，用好自动化，把重复工作交给AI。第十，也是最重要的，学会“偷懒”，把那些机械、重复的劳动外包给AI，让自己专注于更有创造性的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推荐的上手顺序。首先，学会清晰地提出需求，这是基础。然后，掌握分步推进和多轮调整的核心方法。接着，熟悉专家、样例等进阶功能。最后，在确保安全备份的前提下，尝试远程和自动化。记住这个原则：先稳，再快，逐步建立对AI的信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回顾一下今天分享的核心要点。WorkBuddy是一款安全易用的AI智能体工作台，它的核心价值在于“执行”，能给你交付可用的结果。它通过多种功能实现了自动化和可控性的平衡。而要高效使用它，关键在于掌握清晰表达、分步执行和及时备份等技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我的分享到此结束。希望今天的内容能帮助大家更好地理解和使用WorkBuddy。现在就开始尝试吧，让WorkBuddy成为你最得力的数字员工，一起开启属于我们的AI工作新纪元。谢谢大家！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png" Type="http://schemas.openxmlformats.org/officeDocument/2006/relationships/image"/><Relationship Id="rId15" Target="../media/image21.svg" Type="http://schemas.openxmlformats.org/officeDocument/2006/relationships/image"/><Relationship Id="rId16" Target="../media/image22.png" Type="http://schemas.openxmlformats.org/officeDocument/2006/relationships/image"/><Relationship Id="rId17" Target="../media/image23.svg" Type="http://schemas.openxmlformats.org/officeDocument/2006/relationships/image"/><Relationship Id="rId18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9.jpe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9.svg" Type="http://schemas.openxmlformats.org/officeDocument/2006/relationships/image"/><Relationship Id="rId11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32.jpe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9.jpe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13" Target="../media/image47.png" Type="http://schemas.openxmlformats.org/officeDocument/2006/relationships/image"/><Relationship Id="rId14" Target="../media/image48.svg" Type="http://schemas.openxmlformats.org/officeDocument/2006/relationships/image"/><Relationship Id="rId15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1.png" Type="http://schemas.openxmlformats.org/officeDocument/2006/relationships/image"/><Relationship Id="rId4" Target="../media/image52.sv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5.png" Type="http://schemas.openxmlformats.org/officeDocument/2006/relationships/image"/><Relationship Id="rId4" Target="../media/image56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Relationship Id="rId7" Target="../media/image57.jpeg" Type="http://schemas.openxmlformats.org/officeDocument/2006/relationships/image"/><Relationship Id="rId8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62.png" Type="http://schemas.openxmlformats.org/officeDocument/2006/relationships/image"/><Relationship Id="rId4" Target="../media/image63.svg" Type="http://schemas.openxmlformats.org/officeDocument/2006/relationships/image"/><Relationship Id="rId5" Target="../media/image64.png" Type="http://schemas.openxmlformats.org/officeDocument/2006/relationships/image"/><Relationship Id="rId6" Target="../media/image65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../media/image68.png" Type="http://schemas.openxmlformats.org/officeDocument/2006/relationships/image"/><Relationship Id="rId8" Target="../media/image69.svg" Type="http://schemas.openxmlformats.org/officeDocument/2006/relationships/image"/><Relationship Id="rId9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media/image70.png" Type="http://schemas.openxmlformats.org/officeDocument/2006/relationships/image"/><Relationship Id="rId6" Target="../media/image71.svg" Type="http://schemas.openxmlformats.org/officeDocument/2006/relationships/image"/><Relationship Id="rId7" Target="../media/image72.png" Type="http://schemas.openxmlformats.org/officeDocument/2006/relationships/image"/><Relationship Id="rId8" Target="../media/image73.svg" Type="http://schemas.openxmlformats.org/officeDocument/2006/relationships/image"/><Relationship Id="rId9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4.png" Type="http://schemas.openxmlformats.org/officeDocument/2006/relationships/image"/><Relationship Id="rId4" Target="../media/image75.svg" Type="http://schemas.openxmlformats.org/officeDocument/2006/relationships/image"/><Relationship Id="rId5" Target="../media/image76.png" Type="http://schemas.openxmlformats.org/officeDocument/2006/relationships/image"/><Relationship Id="rId6" Target="../media/image77.svg" Type="http://schemas.openxmlformats.org/officeDocument/2006/relationships/image"/><Relationship Id="rId7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66.png" Type="http://schemas.openxmlformats.org/officeDocument/2006/relationships/image"/><Relationship Id="rId4" Target="../media/image67.svg" Type="http://schemas.openxmlformats.org/officeDocument/2006/relationships/image"/><Relationship Id="rId5" Target="../media/image78.png" Type="http://schemas.openxmlformats.org/officeDocument/2006/relationships/image"/><Relationship Id="rId6" Target="../media/image7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80.png" Type="http://schemas.openxmlformats.org/officeDocument/2006/relationships/image"/><Relationship Id="rId4" Target="../media/image81.svg" Type="http://schemas.openxmlformats.org/officeDocument/2006/relationships/image"/><Relationship Id="rId5" Target="../media/image82.png" Type="http://schemas.openxmlformats.org/officeDocument/2006/relationships/image"/><Relationship Id="rId6" Target="../media/image83.svg" Type="http://schemas.openxmlformats.org/officeDocument/2006/relationships/image"/><Relationship Id="rId7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Relationship Id="rId5" Target="../media/image86.png" Type="http://schemas.openxmlformats.org/officeDocument/2006/relationships/image"/><Relationship Id="rId6" Target="../media/image87.sv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Relationship Id="rId9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88.png" Type="http://schemas.openxmlformats.org/officeDocument/2006/relationships/image"/><Relationship Id="rId4" Target="../media/image89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90.png" Type="http://schemas.openxmlformats.org/officeDocument/2006/relationships/image"/><Relationship Id="rId8" Target="../media/image91.svg" Type="http://schemas.openxmlformats.org/officeDocument/2006/relationships/image"/><Relationship Id="rId9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2.png" Type="http://schemas.openxmlformats.org/officeDocument/2006/relationships/image"/><Relationship Id="rId4" Target="../media/image93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94.png" Type="http://schemas.openxmlformats.org/officeDocument/2006/relationships/image"/><Relationship Id="rId8" Target="../media/image95.svg" Type="http://schemas.openxmlformats.org/officeDocument/2006/relationships/image"/><Relationship Id="rId9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6.png" Type="http://schemas.openxmlformats.org/officeDocument/2006/relationships/image"/><Relationship Id="rId4" Target="../media/image97.svg" Type="http://schemas.openxmlformats.org/officeDocument/2006/relationships/image"/><Relationship Id="rId5" Target="../media/image98.png" Type="http://schemas.openxmlformats.org/officeDocument/2006/relationships/image"/><Relationship Id="rId6" Target="../media/image99.svg" Type="http://schemas.openxmlformats.org/officeDocument/2006/relationships/image"/><Relationship Id="rId7" Target="../media/image100.png" Type="http://schemas.openxmlformats.org/officeDocument/2006/relationships/image"/><Relationship Id="rId8" Target="../media/image101.svg" Type="http://schemas.openxmlformats.org/officeDocument/2006/relationships/image"/><Relationship Id="rId9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02.png" Type="http://schemas.openxmlformats.org/officeDocument/2006/relationships/image"/><Relationship Id="rId4" Target="../media/image103.svg" Type="http://schemas.openxmlformats.org/officeDocument/2006/relationships/image"/><Relationship Id="rId5" Target="../media/image104.png" Type="http://schemas.openxmlformats.org/officeDocument/2006/relationships/image"/><Relationship Id="rId6" Target="../media/image105.svg" Type="http://schemas.openxmlformats.org/officeDocument/2006/relationships/image"/><Relationship Id="rId7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3.svg" Type="http://schemas.openxmlformats.org/officeDocument/2006/relationships/image"/><Relationship Id="rId11" Target="../notesSlides/notesSlide25.xml" Type="http://schemas.openxmlformats.org/officeDocument/2006/relationships/notesSlide"/><Relationship Id="rId2" Target="../media/image2.jpeg" Type="http://schemas.openxmlformats.org/officeDocument/2006/relationships/image"/><Relationship Id="rId3" Target="../media/image106.png" Type="http://schemas.openxmlformats.org/officeDocument/2006/relationships/image"/><Relationship Id="rId4" Target="../media/image107.svg" Type="http://schemas.openxmlformats.org/officeDocument/2006/relationships/image"/><Relationship Id="rId5" Target="../media/image108.png" Type="http://schemas.openxmlformats.org/officeDocument/2006/relationships/image"/><Relationship Id="rId6" Target="../media/image109.svg" Type="http://schemas.openxmlformats.org/officeDocument/2006/relationships/image"/><Relationship Id="rId7" Target="../media/image110.png" Type="http://schemas.openxmlformats.org/officeDocument/2006/relationships/image"/><Relationship Id="rId8" Target="../media/image111.svg" Type="http://schemas.openxmlformats.org/officeDocument/2006/relationships/image"/><Relationship Id="rId9" Target="../media/image11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7.svg" Type="http://schemas.openxmlformats.org/officeDocument/2006/relationships/image"/><Relationship Id="rId11" Target="../notesSlides/notesSlide26.xml" Type="http://schemas.openxmlformats.org/officeDocument/2006/relationships/notesSlide"/><Relationship Id="rId2" Target="../media/image2.jpeg" Type="http://schemas.openxmlformats.org/officeDocument/2006/relationships/image"/><Relationship Id="rId3" Target="../media/image96.png" Type="http://schemas.openxmlformats.org/officeDocument/2006/relationships/image"/><Relationship Id="rId4" Target="../media/image97.svg" Type="http://schemas.openxmlformats.org/officeDocument/2006/relationships/image"/><Relationship Id="rId5" Target="../media/image114.png" Type="http://schemas.openxmlformats.org/officeDocument/2006/relationships/image"/><Relationship Id="rId6" Target="../media/image115.svg" Type="http://schemas.openxmlformats.org/officeDocument/2006/relationships/image"/><Relationship Id="rId7" Target="../media/image112.png" Type="http://schemas.openxmlformats.org/officeDocument/2006/relationships/image"/><Relationship Id="rId8" Target="../media/image113.svg" Type="http://schemas.openxmlformats.org/officeDocument/2006/relationships/image"/><Relationship Id="rId9" Target="../media/image11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27.xml" Type="http://schemas.openxmlformats.org/officeDocument/2006/relationships/notesSlide"/><Relationship Id="rId2" Target="../media/image2.jpeg" Type="http://schemas.openxmlformats.org/officeDocument/2006/relationships/image"/><Relationship Id="rId3" Target="../media/image118.jpeg" Type="http://schemas.openxmlformats.org/officeDocument/2006/relationships/image"/><Relationship Id="rId4" Target="../media/image119.jpeg" Type="http://schemas.openxmlformats.org/officeDocument/2006/relationships/image"/><Relationship Id="rId5" Target="../media/image120.jpeg" Type="http://schemas.openxmlformats.org/officeDocument/2006/relationships/image"/><Relationship Id="rId6" Target="../media/image121.jpeg" Type="http://schemas.openxmlformats.org/officeDocument/2006/relationships/image"/><Relationship Id="rId7" Target="../media/image122.jpeg" Type="http://schemas.openxmlformats.org/officeDocument/2006/relationships/image"/><Relationship Id="rId8" Target="../media/image123.png" Type="http://schemas.openxmlformats.org/officeDocument/2006/relationships/image"/><Relationship Id="rId9" Target="../media/image124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3.svg" Type="http://schemas.openxmlformats.org/officeDocument/2006/relationships/image"/><Relationship Id="rId11" Target="../notesSlides/notesSlide28.xml" Type="http://schemas.openxmlformats.org/officeDocument/2006/relationships/notesSlide"/><Relationship Id="rId2" Target="../media/image2.jpeg" Type="http://schemas.openxmlformats.org/officeDocument/2006/relationships/image"/><Relationship Id="rId3" Target="../media/image125.png" Type="http://schemas.openxmlformats.org/officeDocument/2006/relationships/image"/><Relationship Id="rId4" Target="../media/image126.svg" Type="http://schemas.openxmlformats.org/officeDocument/2006/relationships/image"/><Relationship Id="rId5" Target="../media/image127.png" Type="http://schemas.openxmlformats.org/officeDocument/2006/relationships/image"/><Relationship Id="rId6" Target="../media/image128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1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8.png" Type="http://schemas.openxmlformats.org/officeDocument/2006/relationships/image"/><Relationship Id="rId4" Target="../media/image7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34.svg" Type="http://schemas.openxmlformats.org/officeDocument/2006/relationships/image"/><Relationship Id="rId11" Target="../notesSlides/notesSlide30.xml" Type="http://schemas.openxmlformats.org/officeDocument/2006/relationships/notesSlide"/><Relationship Id="rId2" Target="../media/image2.jpeg" Type="http://schemas.openxmlformats.org/officeDocument/2006/relationships/image"/><Relationship Id="rId3" Target="../media/image129.png" Type="http://schemas.openxmlformats.org/officeDocument/2006/relationships/image"/><Relationship Id="rId4" Target="../media/image130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131.png" Type="http://schemas.openxmlformats.org/officeDocument/2006/relationships/image"/><Relationship Id="rId8" Target="../media/image132.svg" Type="http://schemas.openxmlformats.org/officeDocument/2006/relationships/image"/><Relationship Id="rId9" Target="../media/image13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0.svg" Type="http://schemas.openxmlformats.org/officeDocument/2006/relationships/image"/><Relationship Id="rId11" Target="../notesSlides/notesSlide31.xml" Type="http://schemas.openxmlformats.org/officeDocument/2006/relationships/notesSlide"/><Relationship Id="rId2" Target="../media/image2.jpeg" Type="http://schemas.openxmlformats.org/officeDocument/2006/relationships/image"/><Relationship Id="rId3" Target="../media/image135.png" Type="http://schemas.openxmlformats.org/officeDocument/2006/relationships/image"/><Relationship Id="rId4" Target="../media/image136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137.png" Type="http://schemas.openxmlformats.org/officeDocument/2006/relationships/image"/><Relationship Id="rId8" Target="../media/image138.svg" Type="http://schemas.openxmlformats.org/officeDocument/2006/relationships/image"/><Relationship Id="rId9" Target="../media/image139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3.svg" Type="http://schemas.openxmlformats.org/officeDocument/2006/relationships/image"/><Relationship Id="rId11" Target="../notesSlides/notesSlide32.xml" Type="http://schemas.openxmlformats.org/officeDocument/2006/relationships/notesSlide"/><Relationship Id="rId2" Target="../media/image2.jpeg" Type="http://schemas.openxmlformats.org/officeDocument/2006/relationships/image"/><Relationship Id="rId3" Target="../media/image141.png" Type="http://schemas.openxmlformats.org/officeDocument/2006/relationships/image"/><Relationship Id="rId4" Target="../media/image142.svg" Type="http://schemas.openxmlformats.org/officeDocument/2006/relationships/image"/><Relationship Id="rId5" Target="../media/image143.png" Type="http://schemas.openxmlformats.org/officeDocument/2006/relationships/image"/><Relationship Id="rId6" Target="../media/image144.svg" Type="http://schemas.openxmlformats.org/officeDocument/2006/relationships/image"/><Relationship Id="rId7" Target="../media/image145.png" Type="http://schemas.openxmlformats.org/officeDocument/2006/relationships/image"/><Relationship Id="rId8" Target="../media/image146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47.png" Type="http://schemas.openxmlformats.org/officeDocument/2006/relationships/image"/><Relationship Id="rId4" Target="../media/image148.svg" Type="http://schemas.openxmlformats.org/officeDocument/2006/relationships/image"/><Relationship Id="rId5" Target="../media/image149.jpeg" Type="http://schemas.openxmlformats.org/officeDocument/2006/relationships/image"/><Relationship Id="rId6" Target="../media/image150.jpeg" Type="http://schemas.openxmlformats.org/officeDocument/2006/relationships/image"/><Relationship Id="rId7" Target="../notesSlides/notesSlide33.xml" Type="http://schemas.openxmlformats.org/officeDocument/2006/relationships/notesSlide"/></Relationships>
</file>

<file path=ppt/slides/_rels/slide3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25.png" Type="http://schemas.openxmlformats.org/officeDocument/2006/relationships/image"/><Relationship Id="rId4" Target="../media/image126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1.png" Type="http://schemas.openxmlformats.org/officeDocument/2006/relationships/image"/><Relationship Id="rId8" Target="../media/image152.svg" Type="http://schemas.openxmlformats.org/officeDocument/2006/relationships/image"/><Relationship Id="rId9" Target="../notesSlides/notesSlide34.xml" Type="http://schemas.openxmlformats.org/officeDocument/2006/relationships/notesSlide"/></Relationships>
</file>

<file path=ppt/slides/_rels/slide3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5.xml" Type="http://schemas.openxmlformats.org/officeDocument/2006/relationships/notesSlide"/></Relationships>
</file>

<file path=ppt/slides/_rels/slide3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53.png" Type="http://schemas.openxmlformats.org/officeDocument/2006/relationships/image"/><Relationship Id="rId4" Target="../media/image154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155.png" Type="http://schemas.openxmlformats.org/officeDocument/2006/relationships/image"/><Relationship Id="rId8" Target="../media/image156.svg" Type="http://schemas.openxmlformats.org/officeDocument/2006/relationships/image"/><Relationship Id="rId9" Target="../notesSlides/notesSlide36.xml" Type="http://schemas.openxmlformats.org/officeDocument/2006/relationships/notesSlide"/></Relationships>
</file>

<file path=ppt/slides/_rels/slide3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9.png" Type="http://schemas.openxmlformats.org/officeDocument/2006/relationships/image"/><Relationship Id="rId6" Target="../media/image130.sv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Relationship Id="rId9" Target="../notesSlides/notesSlide37.xml" Type="http://schemas.openxmlformats.org/officeDocument/2006/relationships/notesSlide"/></Relationships>
</file>

<file path=ppt/slides/_rels/slide3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2.svg" Type="http://schemas.openxmlformats.org/officeDocument/2006/relationships/image"/><Relationship Id="rId11" Target="../notesSlides/notesSlide38.xml" Type="http://schemas.openxmlformats.org/officeDocument/2006/relationships/notesSlide"/><Relationship Id="rId2" Target="../media/image2.jpeg" Type="http://schemas.openxmlformats.org/officeDocument/2006/relationships/image"/><Relationship Id="rId3" Target="../media/image157.png" Type="http://schemas.openxmlformats.org/officeDocument/2006/relationships/image"/><Relationship Id="rId4" Target="../media/image158.svg" Type="http://schemas.openxmlformats.org/officeDocument/2006/relationships/image"/><Relationship Id="rId5" Target="../media/image159.png" Type="http://schemas.openxmlformats.org/officeDocument/2006/relationships/image"/><Relationship Id="rId6" Target="../media/image160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161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8.svg" Type="http://schemas.openxmlformats.org/officeDocument/2006/relationships/image"/><Relationship Id="rId11" Target="../media/image102.png" Type="http://schemas.openxmlformats.org/officeDocument/2006/relationships/image"/><Relationship Id="rId12" Target="../media/image103.svg" Type="http://schemas.openxmlformats.org/officeDocument/2006/relationships/image"/><Relationship Id="rId13" Target="../notesSlides/notesSlide39.xml" Type="http://schemas.openxmlformats.org/officeDocument/2006/relationships/notesSlide"/><Relationship Id="rId2" Target="../media/image2.jpeg" Type="http://schemas.openxmlformats.org/officeDocument/2006/relationships/image"/><Relationship Id="rId3" Target="../media/image163.png" Type="http://schemas.openxmlformats.org/officeDocument/2006/relationships/image"/><Relationship Id="rId4" Target="../media/image164.svg" Type="http://schemas.openxmlformats.org/officeDocument/2006/relationships/image"/><Relationship Id="rId5" Target="../media/image165.png" Type="http://schemas.openxmlformats.org/officeDocument/2006/relationships/image"/><Relationship Id="rId6" Target="../media/image166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127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3.svg" Type="http://schemas.openxmlformats.org/officeDocument/2006/relationships/image"/><Relationship Id="rId11" Target="../notesSlides/notesSlide40.xml" Type="http://schemas.openxmlformats.org/officeDocument/2006/relationships/notesSlide"/><Relationship Id="rId2" Target="../media/image2.jpeg" Type="http://schemas.openxmlformats.org/officeDocument/2006/relationships/image"/><Relationship Id="rId3" Target="../media/image167.png" Type="http://schemas.openxmlformats.org/officeDocument/2006/relationships/image"/><Relationship Id="rId4" Target="../media/image168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Relationship Id="rId9" Target="../media/image102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69.jpeg" Type="http://schemas.openxmlformats.org/officeDocument/2006/relationships/image"/><Relationship Id="rId3" Target="../notesSlides/notesSlide41.xml" Type="http://schemas.openxmlformats.org/officeDocument/2006/relationships/notesSlide"/><Relationship Id="rId4" Target="../media/image17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159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WorkBuddy 入门到精通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683000"/>
            <a:ext cx="1270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191000"/>
            <a:ext cx="1041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开启你的 AI 工作新纪元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71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 spc="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 AGENT · PRODUCTIVITY REVOLUTION ·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什么是AI智能体 (AI Agent)？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08200" y="2286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952500" y="3302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4318000"/>
            <a:ext cx="292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AI智能体是一种能够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感知环境、自主决策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并执行行动的人工智能程序。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91200" y="2286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35500" y="3302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4318000"/>
            <a:ext cx="292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它标志着AI从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“对话与建议”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走向“感知与执行”的关键一步。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74200" y="22860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318500" y="3302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核心口号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18500" y="4318000"/>
            <a:ext cx="2921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The AI that actually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does things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(真正执行任务的人工智能)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市场现象：“养虾”热潮与OpenClaw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556000" cy="4572000"/>
          </a:xfrm>
          <a:prstGeom prst="roundRect">
            <a:avLst>
              <a:gd name="adj" fmla="val 428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17316" b="17316"/>
          <a:stretch>
            <a:fillRect/>
          </a:stretch>
        </p:blipFill>
        <p:spPr>
          <a:xfrm rot="0" flipH="false" flipV="false">
            <a:off x="1016000" y="1905000"/>
            <a:ext cx="3048000" cy="1651000"/>
          </a:xfrm>
          <a:prstGeom prst="roundRect">
            <a:avLst>
              <a:gd name="adj" fmla="val 6153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3810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▍ 背景介绍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4450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2026年初，一款名为OpenClaw（中文社区昵称“小龙虾”）的开源AI代理框架在技术圈迅速爆火，凭借其灵活的部署能力与强大的实操性，成为了AI开发者和极客群体中的新宠。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699000" y="1651000"/>
            <a:ext cx="6731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953000" y="196850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524500" y="1930400"/>
            <a:ext cx="139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本地部署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1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无需昂贵云端算力，可直接在个人电脑上轻量运行。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112000" y="1968500"/>
            <a:ext cx="457200" cy="457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683500" y="1930400"/>
            <a:ext cx="139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行动导向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1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突破对话限制，直接操作电脑处理文件、邮件与代码。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271000" y="19685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842500" y="1930400"/>
            <a:ext cx="139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社区驱动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1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拥有活跃的开发者生态与庞大的第三方技能市场。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4064000"/>
            <a:ext cx="6731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953000" y="4445000"/>
            <a:ext cx="381000" cy="381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461000" y="4419600"/>
            <a:ext cx="1079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搭建虾缸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  <a:spcBef>
                <a:spcPts val="600"/>
              </a:spcBef>
            </a:pPr>
            <a:r>
              <a:rPr lang="en-US" b="false" i="false" strike="noStrike" u="none" sz="10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配置本地运行环境，完成框架部署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4445000"/>
            <a:ext cx="381000" cy="381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112000" y="4419600"/>
            <a:ext cx="1079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投喂虾粮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  <a:spcBef>
                <a:spcPts val="600"/>
              </a:spcBef>
            </a:pPr>
            <a:r>
              <a:rPr lang="en-US" b="false" i="false" strike="noStrike" u="none" sz="10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接入大模型API，为AI提供核心“智力”支持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255000" y="4445000"/>
            <a:ext cx="381000" cy="381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763000" y="4419600"/>
            <a:ext cx="1079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安装技能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  <a:spcBef>
                <a:spcPts val="600"/>
              </a:spcBef>
            </a:pPr>
            <a:r>
              <a:rPr lang="en-US" b="false" i="false" strike="noStrike" u="none" sz="10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下载并挂载各类插件，快速扩展AI能力边界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9906000" y="4445000"/>
            <a:ext cx="381000" cy="3810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0414000" y="4419600"/>
            <a:ext cx="1079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日常驯化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  <a:spcBef>
                <a:spcPts val="600"/>
              </a:spcBef>
            </a:pPr>
            <a:r>
              <a:rPr lang="en-US" b="false" i="false" strike="noStrike" u="none" sz="10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通过指令与反馈，训练AI适应个人习惯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行业痛点：高门槛与高风险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25908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778000" y="2032000"/>
            <a:ext cx="558800" cy="558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2794000"/>
            <a:ext cx="23368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极高的安全风险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配置不当可能导致远程控制和数据泄露，个人隐私面临极大挑战。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505200" y="1778000"/>
            <a:ext cx="25908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21200" y="2032000"/>
            <a:ext cx="558800" cy="558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3632200" y="2794000"/>
            <a:ext cx="23368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陡峭的技术门槛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需要操作终端、配置环境变量，对非技术用户来说如同“极客的玩具”。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48400" y="1778000"/>
            <a:ext cx="25908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264400" y="2032000"/>
            <a:ext cx="558800" cy="558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375400" y="2794000"/>
            <a:ext cx="23368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高昂的使用成本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大量消耗云端大模型Token，复杂的交互任务导致API调用费用居高不下。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991600" y="1778000"/>
            <a:ext cx="25908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007600" y="2032000"/>
            <a:ext cx="558800" cy="558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9118600" y="2794000"/>
            <a:ext cx="23368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稳定性与工程风险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技术尚处于早期发展阶段，处理复杂的多步骤任务时容易出现执行失败。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572000"/>
            <a:ext cx="10820400" cy="1651000"/>
          </a:xfrm>
          <a:prstGeom prst="roundRect">
            <a:avLst>
              <a:gd name="adj" fmla="val 923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889500"/>
            <a:ext cx="10312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我们面临的核心挑战是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1000"/>
              </a:spcBef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如何让强大的 AI 代理技术变得安全、易用，真正走向大众？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腾讯的答案：WorkBuddy — 人人可用的“精装房”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034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78000" y="1714500"/>
            <a:ext cx="393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全场景职场 AI 智能体桌面工作台，集成各类办公能力。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524000"/>
            <a:ext cx="5207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8034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239000" y="1714500"/>
            <a:ext cx="393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面向普通办公人员，追求开箱即用，降低AI使用门槛。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rcRect l="0" r="0" t="25335" b="25335"/>
          <a:stretch>
            <a:fillRect/>
          </a:stretch>
        </p:blipFill>
        <p:spPr>
          <a:xfrm rot="0" flipH="false" flipV="false">
            <a:off x="2286000" y="2984500"/>
            <a:ext cx="7620000" cy="1841500"/>
          </a:xfrm>
          <a:prstGeom prst="roundRect">
            <a:avLst>
              <a:gd name="adj" fmla="val 8275"/>
            </a:avLst>
          </a:prstGeom>
          <a:noFill/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11" id="11"/>
          <p:cNvSpPr/>
          <p:nvPr/>
        </p:nvSpPr>
        <p:spPr>
          <a:xfrm rot="0" flipH="false" flipV="false">
            <a:off x="762000" y="508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52070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🔧 OpenClaw · “毛坯房”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高度自由且可深度定制，但如同装修毛坯房，需要具备一定技术背景，且耗时耗力。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508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13500" y="52070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🏠 WorkBuddy · “精装房”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集成企业级安全保障，功能完善且体验流畅，像入住“精装房”一样，真正做到“拎包入住”。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WorkBuddy是什么？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8566" r="8566" t="0" b="0"/>
          <a:stretch>
            <a:fillRect/>
          </a:stretch>
        </p:blipFill>
        <p:spPr>
          <a:xfrm rot="0" flipH="false" flipV="false">
            <a:off x="762000" y="2032000"/>
            <a:ext cx="3048000" cy="3048000"/>
          </a:xfrm>
          <a:prstGeom prst="roundRect">
            <a:avLst>
              <a:gd name="adj" fmla="val 6666"/>
            </a:avLst>
          </a:prstGeom>
          <a:noFill/>
          <a:ln w="508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4318000" y="1778000"/>
            <a:ext cx="711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2095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5207000" y="2032000"/>
            <a:ext cx="584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官方定义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腾讯推出的</a:t>
            </a: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全场景职场AI智能体桌面工作台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，不仅能“听懂人话”，还能“带脑子思考”并“实际操作本地文件”，真正帮您干活，让工作效率翻倍。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18000" y="4191000"/>
            <a:ext cx="3429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572000" y="4508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207000" y="4445000"/>
            <a:ext cx="241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用一句话描述需求，即可获得可验收的结果，将您从繁琐的重复劳动中彻底解放。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01000" y="4191000"/>
            <a:ext cx="3429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255000" y="4508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890000" y="4445000"/>
            <a:ext cx="241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了解更多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访问官网获取最新资讯与下载链接：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sng" sz="1300">
                <a:solidFill>
                  <a:srgbClr val="3182CE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https://www.codebuddy.cn/work/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核心能力：不止于对话，更能实际操作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969000" y="1778000"/>
            <a:ext cx="2730500" cy="1333500"/>
          </a:xfrm>
          <a:prstGeom prst="roundRect">
            <a:avLst>
              <a:gd name="adj" fmla="val 7619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159500" y="2032000"/>
            <a:ext cx="457200" cy="4572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6794500" y="1968500"/>
            <a:ext cx="177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理解自然语言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一句话下达任务，像真人一样交流，无需学习复杂指令。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969000" y="3365500"/>
            <a:ext cx="2730500" cy="1333500"/>
          </a:xfrm>
          <a:prstGeom prst="roundRect">
            <a:avLst>
              <a:gd name="adj" fmla="val 7619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159500" y="36195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6794500" y="3556000"/>
            <a:ext cx="177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自主规划执行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自动拆解复杂需求，制定执行计划并按步骤完成。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969000" y="4953000"/>
            <a:ext cx="2730500" cy="1333500"/>
          </a:xfrm>
          <a:prstGeom prst="roundRect">
            <a:avLst>
              <a:gd name="adj" fmla="val 7619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159500" y="52070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794500" y="5143500"/>
            <a:ext cx="177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多任务并行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支持同时管理并推进多个不同任务，效率倍增。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0" y="1778000"/>
            <a:ext cx="2730500" cy="1333500"/>
          </a:xfrm>
          <a:prstGeom prst="roundRect">
            <a:avLst>
              <a:gd name="adj" fmla="val 7619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080500" y="20320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715500" y="1968500"/>
            <a:ext cx="177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多模态任务处理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全能处理文档、表格、PPT、数据分析等多种格式工作。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90000" y="3365500"/>
            <a:ext cx="2730500" cy="1333500"/>
          </a:xfrm>
          <a:prstGeom prst="roundRect">
            <a:avLst>
              <a:gd name="adj" fmla="val 7619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080500" y="3619500"/>
            <a:ext cx="457200" cy="4572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9715500" y="3556000"/>
            <a:ext cx="177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本地文件操作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可安全读取授权的本地文件夹，直接进行批量编辑和处理。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90000" y="4953000"/>
            <a:ext cx="2730500" cy="1333500"/>
          </a:xfrm>
          <a:prstGeom prst="roundRect">
            <a:avLst>
              <a:gd name="adj" fmla="val 7619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9080500" y="5207000"/>
            <a:ext cx="457200" cy="4572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715500" y="5143500"/>
            <a:ext cx="177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结果可验收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产出高质量的文档、表格、PPT，可直接用于汇报和工作。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适用场景：工作模式 vs. 编程模式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2860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905000" y="2286000"/>
            <a:ext cx="355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工作模式</a:t>
            </a:r>
            <a:r>
              <a:rPr lang="en-US" b="false" i="false" strike="noStrike" u="none" sz="18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(默认)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302000"/>
            <a:ext cx="4445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📋 核心场景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文档生成、数据分析、PPT/报告撰写、深度行业研究、商务邮件编辑、周报月报自动生成、批量文件处理与格式转换等。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49530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👥 目标用户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各类职能角色（如HR、财务、市场、运营）、分析师、咨询顾问、学生及其他需要处理文字与数据的普通办公人员。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22860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366000" y="2286000"/>
            <a:ext cx="355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编程模式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3302000"/>
            <a:ext cx="4445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💻 核心场景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日常编码辅助（代码生成、逻辑审查、Bug修复、代码重构）、快速理解大型项目架构、Web前端/后端及移动应用开发支持。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04000" y="49530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👨‍💻 目标用户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全栈开发工程师、前端/后端程序员、数据科学家、算法工程师、计算机专业学生及所有从事软件开发工作的技术人员。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与传统AI对话的区别：从建议到交付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1714500"/>
            <a:ext cx="177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794000" y="1676400"/>
            <a:ext cx="3937000" cy="901700"/>
          </a:xfrm>
          <a:prstGeom prst="roundRect">
            <a:avLst>
              <a:gd name="adj" fmla="val 11267"/>
            </a:avLst>
          </a:prstGeom>
          <a:solidFill>
            <a:srgbClr val="F7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921000" y="1739900"/>
            <a:ext cx="3683000" cy="774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传统AI对话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仅提供文字建议，无法实际动手解决问题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985000" y="1676400"/>
            <a:ext cx="3937000" cy="901700"/>
          </a:xfrm>
          <a:prstGeom prst="roundRect">
            <a:avLst>
              <a:gd name="adj" fmla="val 11267"/>
            </a:avLst>
          </a:prstGeom>
          <a:solidFill>
            <a:srgbClr val="4FD1C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112000" y="1739900"/>
            <a:ext cx="3683000" cy="774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WorkBuddy：</a:t>
            </a: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能实际执行任务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连接工具与数据，直接动手完成工作流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921000"/>
            <a:ext cx="10668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3111500"/>
            <a:ext cx="177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文件操作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794000" y="3073400"/>
            <a:ext cx="3937000" cy="901700"/>
          </a:xfrm>
          <a:prstGeom prst="roundRect">
            <a:avLst>
              <a:gd name="adj" fmla="val 11267"/>
            </a:avLst>
          </a:prstGeom>
          <a:solidFill>
            <a:srgbClr val="F7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921000" y="3136900"/>
            <a:ext cx="3683000" cy="774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传统AI对话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输出代码或步骤，需要人工手动复制操作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985000" y="3073400"/>
            <a:ext cx="3937000" cy="901700"/>
          </a:xfrm>
          <a:prstGeom prst="roundRect">
            <a:avLst>
              <a:gd name="adj" fmla="val 11267"/>
            </a:avLst>
          </a:prstGeom>
          <a:solidFill>
            <a:srgbClr val="4FD1C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112000" y="3136900"/>
            <a:ext cx="3683000" cy="774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WorkBuddy：</a:t>
            </a: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自动操作本地文件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无需人工介入，自动读写、修改和保存文件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318000"/>
            <a:ext cx="10668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9000" y="4508500"/>
            <a:ext cx="177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任务复杂度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794000" y="4470400"/>
            <a:ext cx="3937000" cy="901700"/>
          </a:xfrm>
          <a:prstGeom prst="roundRect">
            <a:avLst>
              <a:gd name="adj" fmla="val 11267"/>
            </a:avLst>
          </a:prstGeom>
          <a:solidFill>
            <a:srgbClr val="F7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921000" y="4533900"/>
            <a:ext cx="3683000" cy="774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传统AI对话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适合回答单一问题，难以处理多步骤长流程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985000" y="4470400"/>
            <a:ext cx="3937000" cy="901700"/>
          </a:xfrm>
          <a:prstGeom prst="roundRect">
            <a:avLst>
              <a:gd name="adj" fmla="val 11267"/>
            </a:avLst>
          </a:prstGeom>
          <a:solidFill>
            <a:srgbClr val="4FD1C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112000" y="4533900"/>
            <a:ext cx="3683000" cy="774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WorkBuddy：</a:t>
            </a: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多步骤复杂任务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逻辑严密，能够处理多步骤、跨工具的复杂任务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461000"/>
            <a:ext cx="10668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89000" y="5651500"/>
            <a:ext cx="177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交付形式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794000" y="5613400"/>
            <a:ext cx="3937000" cy="901700"/>
          </a:xfrm>
          <a:prstGeom prst="roundRect">
            <a:avLst>
              <a:gd name="adj" fmla="val 11267"/>
            </a:avLst>
          </a:prstGeom>
          <a:solidFill>
            <a:srgbClr val="F7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921000" y="5676900"/>
            <a:ext cx="3683000" cy="774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传统AI对话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交付自然语言回复，需要用户自行转化为成果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985000" y="5613400"/>
            <a:ext cx="3937000" cy="901700"/>
          </a:xfrm>
          <a:prstGeom prst="roundRect">
            <a:avLst>
              <a:gd name="adj" fmla="val 11267"/>
            </a:avLst>
          </a:prstGeom>
          <a:solidFill>
            <a:srgbClr val="4FD1C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112000" y="5676900"/>
            <a:ext cx="3683000" cy="774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WorkBuddy：</a:t>
            </a: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交付可验收的结果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直接生成可用的文件、报告或数据，所见即所得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与OpenClaw对比：精装房 vs. 毛坯房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2794000" cy="4572000"/>
          </a:xfrm>
          <a:prstGeom prst="roundRect">
            <a:avLst>
              <a:gd name="adj" fmla="val 5454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1841500"/>
            <a:ext cx="2540000" cy="419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7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产品定位</a:t>
            </a: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75000"/>
              </a:lnSpc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部署门槛</a:t>
            </a: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75000"/>
              </a:lnSpc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自动化程度</a:t>
            </a: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75000"/>
              </a:lnSpc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安全合规</a:t>
            </a: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75000"/>
              </a:lnSpc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核心用户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0" y="1651000"/>
            <a:ext cx="3810000" cy="4572000"/>
          </a:xfrm>
          <a:prstGeom prst="roundRect">
            <a:avLst>
              <a:gd name="adj" fmla="val 4000"/>
            </a:avLst>
          </a:prstGeom>
          <a:solidFill>
            <a:srgbClr val="F7FAFC">
              <a:alpha val="95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0" y="1651000"/>
            <a:ext cx="3810000" cy="889000"/>
          </a:xfrm>
          <a:prstGeom prst="roundRect">
            <a:avLst>
              <a:gd name="adj" fmla="val 17142"/>
            </a:avLst>
          </a:prstGeom>
          <a:solidFill>
            <a:srgbClr val="EDF2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4064000" y="18669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635500" y="17780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(毛坯房)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000500" y="2667000"/>
            <a:ext cx="3429000" cy="342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58333"/>
              </a:lnSpc>
              <a:defRPr/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开源框架，提供高度的自定义与自由性，无限制扩展。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极客级门槛，需掌握命令行工具与代码配置，维护成本高。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追求极致的自动化流程，无人工干预环节。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E53E3E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用户完全自主负责，数据安全与合规风险较高。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专业开发者、技术极客、个人技术爱好者。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874000" y="1651000"/>
            <a:ext cx="3810000" cy="4572000"/>
          </a:xfrm>
          <a:prstGeom prst="roundRect">
            <a:avLst>
              <a:gd name="adj" fmla="val 4000"/>
            </a:avLst>
          </a:prstGeom>
          <a:solidFill>
            <a:srgbClr val="FFFFFF">
              <a:alpha val="95000"/>
            </a:srgbClr>
          </a:solidFill>
          <a:ln w="25400" cmpd="sng" cap="flat">
            <a:solidFill>
              <a:srgbClr val="4FD1C5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874000" y="1651000"/>
            <a:ext cx="3810000" cy="889000"/>
          </a:xfrm>
          <a:prstGeom prst="roundRect">
            <a:avLst>
              <a:gd name="adj" fmla="val 17142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128000" y="18669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699500" y="17780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WorkBuddy (精装房)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64500" y="2667000"/>
            <a:ext cx="3429000" cy="342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58333"/>
              </a:lnSpc>
              <a:defRPr/>
            </a:pPr>
            <a:r>
              <a:rPr lang="en-US" b="tru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企业级自研产品，功能预置，安全可控，开箱即用。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零门槛，下载安装即可使用，无需复杂配置。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“半自动”模式，关键节点需人工确认，兼顾效率与安全。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58333"/>
              </a:lnSpc>
            </a:pPr>
            <a:r>
              <a:rPr lang="en-US" b="true" i="false" strike="noStrike" u="none" sz="1300">
                <a:solidFill>
                  <a:srgbClr val="38A169"/>
                </a:solidFill>
                <a:latin typeface="Noto Sans SC"/>
                <a:ea typeface="Noto Sans SC"/>
                <a:cs typeface="Noto Sans SC"/>
                <a:sym typeface="Noto Sans SC"/>
              </a:rPr>
              <a:t>内置企业级安全审计与风险拦截，提供合规保障。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普通办公人员、业务运营、各行业企业级用户。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设计理念：帮你干活，但不替你做决定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968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930400"/>
            <a:ext cx="393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核心哲学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2667000"/>
            <a:ext cx="4597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4A556A"/>
                </a:solidFill>
                <a:latin typeface="Noto Sans SC"/>
                <a:ea typeface="Noto Sans SC"/>
                <a:cs typeface="Noto Sans SC"/>
                <a:sym typeface="Noto Sans SC"/>
              </a:rPr>
              <a:t>在“效率”与“安全”之间寻找最佳平衡点，不盲目追求自动化，而是让智能成为辅助，既解放你的双手，又避免因过度自动化而导致的失控风险。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191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4508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651000" y="4470400"/>
            <a:ext cx="393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实现方式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66800" y="5207000"/>
            <a:ext cx="4597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4A556A"/>
                </a:solidFill>
                <a:latin typeface="Noto Sans SC"/>
                <a:ea typeface="Noto Sans SC"/>
                <a:cs typeface="Noto Sans SC"/>
                <a:sym typeface="Noto Sans SC"/>
              </a:rPr>
              <a:t>在关键节点设置“人工确认”机制，将最终决策权完全交还给用户。系统负责处理繁琐的执行细节，而你始终掌控着方向和关键决策。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651000"/>
            <a:ext cx="5207000" cy="4762500"/>
          </a:xfrm>
          <a:prstGeom prst="roundRect">
            <a:avLst>
              <a:gd name="adj" fmla="val 32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rcRect l="36244" r="36244" t="0" b="0"/>
          <a:stretch>
            <a:fillRect/>
          </a:stretch>
        </p:blipFill>
        <p:spPr>
          <a:xfrm rot="0" flipH="false" flipV="false">
            <a:off x="6477000" y="1905000"/>
            <a:ext cx="2032000" cy="4254500"/>
          </a:xfrm>
          <a:prstGeom prst="roundRect">
            <a:avLst>
              <a:gd name="adj" fmla="val 75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8636000" y="2159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负责人观点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汪晟杰</a:t>
            </a:r>
            <a:r>
              <a:rPr lang="en-US" b="false" i="false" strike="noStrike" u="none" sz="1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| 产品负责人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636000" y="3429000"/>
            <a:ext cx="2540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556A"/>
                </a:solidFill>
                <a:latin typeface="Noto Sans SC"/>
                <a:ea typeface="Noto Sans SC"/>
                <a:cs typeface="Noto Sans SC"/>
                <a:sym typeface="Noto Sans SC"/>
              </a:rPr>
              <a:t>“WorkBuddy 是我们团队从底层开始，</a:t>
            </a:r>
            <a:r>
              <a:rPr lang="en-US" b="true" i="false" strike="noStrike" u="none" sz="1300">
                <a:solidFill>
                  <a:srgbClr val="E53E3E"/>
                </a:solidFill>
                <a:latin typeface="Noto Sans SC"/>
                <a:ea typeface="Noto Sans SC"/>
                <a:cs typeface="Noto Sans SC"/>
                <a:sym typeface="Noto Sans SC"/>
              </a:rPr>
              <a:t>百分之百自研</a:t>
            </a:r>
            <a:r>
              <a:rPr lang="en-US" b="false" i="false" strike="noStrike" u="none" sz="1300">
                <a:solidFill>
                  <a:srgbClr val="4A556A"/>
                </a:solidFill>
                <a:latin typeface="Noto Sans SC"/>
                <a:ea typeface="Noto Sans SC"/>
                <a:cs typeface="Noto Sans SC"/>
                <a:sym typeface="Noto Sans SC"/>
              </a:rPr>
              <a:t>的产品，拥有完全自主的技术架构和知识产权。它并非 OpenClaw 的简单套壳，这让我们能够更灵活地平衡自动化逻辑与安全控制。”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快速上手：三步开启AI工作流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2286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57400" y="3429000"/>
            <a:ext cx="711200" cy="711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4445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下载安装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5334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访问官网，根据您的操作系统下载并安装客户端。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72000" y="2286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40400" y="3429000"/>
            <a:ext cx="711200" cy="711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572000" y="4445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登录配置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35500" y="5334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使用微信扫码快速登录，并完成简单的语言和偏好设置。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0" y="2286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23400" y="3429000"/>
            <a:ext cx="711200" cy="711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255000" y="4445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发起任务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18500" y="5334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在主界面输入框中，用一句话清晰描述您的需求，点击发送即可。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下载与安装 (Windows版) - 步骤1：下载与启动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3970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92200" y="2133600"/>
            <a:ext cx="558800" cy="558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905000" y="1968500"/>
            <a:ext cx="381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01. 访问官网下载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打开浏览器，访问官网</a:t>
            </a:r>
            <a:r>
              <a:rPr lang="en-US" b="tru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https://www.codebuddy.cn/work/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，找到并点击页面中的“立即下载”按钮。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429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42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92200" y="3784600"/>
            <a:ext cx="558800" cy="558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905000" y="3619500"/>
            <a:ext cx="381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02. 找到安装包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等待下载完成后，在浏览器的下载列表中打开，或前往电脑默认的</a:t>
            </a:r>
            <a:r>
              <a:rPr lang="en-US" b="tru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Downloads (下载)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文件夹查找。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08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08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92200" y="5435600"/>
            <a:ext cx="558800" cy="558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905000" y="5270500"/>
            <a:ext cx="381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03. 启动安装程序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双击下载好的安装包文件，启动安装向导，按照提示完成后续的安装流程。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1778000"/>
            <a:ext cx="5080000" cy="4699000"/>
          </a:xfrm>
          <a:prstGeom prst="roundRect">
            <a:avLst>
              <a:gd name="adj" fmla="val 432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下载与安装 (Windows版) - 步骤2：安装步骤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0" y="1778000"/>
            <a:ext cx="2540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0" y="177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0" y="1968500"/>
            <a:ext cx="215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同意许可协议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仔细阅读用户许可协议，勾选“我同意此协议”复选框，然后点击“下一步”。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0" y="1778000"/>
            <a:ext cx="2540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0" y="177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144000" y="1968500"/>
            <a:ext cx="215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选择安装路径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默认路径通常为系统盘的“Program Files”，建议保持默认设置以确保兼容性。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0" y="4064000"/>
            <a:ext cx="2540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0" y="4064000"/>
            <a:ext cx="76200" cy="19050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4254500"/>
            <a:ext cx="215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确认文件夹名称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安装程序会默认生成软件名称的文件夹，一般无需修改，直接点击“下一步”即可。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90000" y="4064000"/>
            <a:ext cx="2540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890000" y="4064000"/>
            <a:ext cx="76200" cy="19050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144000" y="4254500"/>
            <a:ext cx="215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创建快捷方式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建议勾选“创建桌面快捷方式”，方便后续从桌面快速启动软件。完成后点击“安装”。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下载与安装 (Windows版) - 步骤3：完成安装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2860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905000" y="2260600"/>
            <a:ext cx="3683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01. 确认并开始安装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检查安装路径与组件等配置信息，确认无误后，点击界面中的“安装”按钮。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3683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905000" y="3657600"/>
            <a:ext cx="3683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02. 等待进度完成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安装过程通常仅需几秒钟，耐心等待进度条加载至100%即可。请勿中途中断。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43000" y="50800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905000" y="5054600"/>
            <a:ext cx="3683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03. 启动 WorkBuddy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点击“完成”结束向导，软件会自动启动，您可以立即开始使用WorkBuddy。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5842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WorkBuddy 安装进度界面示例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下载与安装 (Mac版) - 步骤1：下载与选择版本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48260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访问</a:t>
            </a:r>
            <a:r>
              <a:rPr lang="en-US" b="true" i="false" strike="noStrike" u="none" sz="1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codebuddy.cn/work</a:t>
            </a:r>
            <a:r>
              <a:rPr lang="en-US" b="false" i="false" strike="noStrike" u="none" sz="1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进入下载页面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页面提供清晰的版本分类指引，避免下载错误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23000" y="1778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477000" y="20955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7366000" y="1968500"/>
            <a:ext cx="393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/ 访问官网下载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打开浏览器访问</a:t>
            </a:r>
            <a:r>
              <a:rPr lang="en-US" b="true" i="false" strike="noStrike" u="none" sz="13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https://www.codebuddy.cn/work/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，在首页找到“立即下载”按钮并点击，即可跳转至版本选择界面。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3683000"/>
            <a:ext cx="24765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3683000"/>
            <a:ext cx="2476500" cy="76200"/>
          </a:xfrm>
          <a:prstGeom prst="roundRect">
            <a:avLst>
              <a:gd name="adj" fmla="val 20000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4064000"/>
            <a:ext cx="457200" cy="457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112000" y="4064000"/>
            <a:ext cx="139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ARM64 版本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13500" y="4953000"/>
            <a:ext cx="209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适用于搭载</a:t>
            </a:r>
            <a:r>
              <a:rPr lang="en-US" b="tru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Apple Silicon (M系列)</a:t>
            </a: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自研芯片的 Mac 电脑，性能更强，兼容性更好。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953500" y="3683000"/>
            <a:ext cx="24765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953500" y="3683000"/>
            <a:ext cx="2476500" cy="76200"/>
          </a:xfrm>
          <a:prstGeom prst="roundRect">
            <a:avLst>
              <a:gd name="adj" fmla="val 200000"/>
            </a:avLst>
          </a:prstGeom>
          <a:solidFill>
            <a:srgbClr val="ED89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207500" y="4064000"/>
            <a:ext cx="457200" cy="4572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9842500" y="4064000"/>
            <a:ext cx="139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X64 版本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144000" y="4953000"/>
            <a:ext cx="209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仅适用于搭载</a:t>
            </a:r>
            <a:r>
              <a:rPr lang="en-US" b="tru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Intel (英特尔)</a:t>
            </a: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处理器的旧款 Mac 电脑，适配传统架构。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下载与安装 (Mac版) - 步骤2：安装步骤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08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4765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032000" y="2286000"/>
            <a:ext cx="342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01. 打开安装文件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下载完成后，在电脑的「下载」文件夹中找到扩展名为</a:t>
            </a:r>
            <a:r>
              <a:rPr lang="en-US" b="tru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.dmg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的文件，双击打开它。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318000"/>
            <a:ext cx="508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79500" y="47625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032000" y="4572000"/>
            <a:ext cx="342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02. 拖拽至应用文件夹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在弹出的安装窗口中，将 WorkBuddy 图标直接拖拽到 Applications 文件夹中，即可完成安装。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5651500"/>
            <a:ext cx="520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Mac 系统典型的“拖拽式”应用安装界面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下载与安装 (Mac版) - 步骤3：完成安装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842000" y="1905000"/>
            <a:ext cx="5588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096000" y="22225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6985000" y="2095500"/>
            <a:ext cx="419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等待文件拷贝完成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拖拽完成后，系统会自动将 WorkBuddy 安装文件拷贝至「应用程序」文件夹。请耐心等待进度条走完，确保所有组件完整复制。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842000" y="3429000"/>
            <a:ext cx="5588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096000" y="37465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985000" y="3619500"/>
            <a:ext cx="419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右键点击“打开”绕过安全限制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因 Mac 安全机制限制，首次打开请在「应用程序」文件夹中右键点击 WorkBuddy 图标，选择「打开」。此操作仅需进行一次。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42000" y="4953000"/>
            <a:ext cx="5588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096000" y="52705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85000" y="5143500"/>
            <a:ext cx="419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随时启动，高效工作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完成配置后，您可以随时从电脑的「启动台」或「应用程序」文件夹中快速启动 WorkBuddy，开始使用。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登录与语言设置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318000"/>
            <a:ext cx="4699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/ 登录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启动 WorkBuddy 后，点击界面上醒目的“登录”按钮，只需使用微信扫描弹出的二维码，完成授权即可快速进入应用，无需繁琐的账号密码注册。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23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477000" y="2222500"/>
            <a:ext cx="762000" cy="762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7493000" y="1968500"/>
            <a:ext cx="368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/ 语言设置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登录成功后，点击页面左下角的个人头像，在展开的侧边菜单中，找到“语言”选项，点击即可快速切换应用显示语言，满足不同使用习惯。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406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4635500"/>
            <a:ext cx="762000" cy="762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493000" y="4381500"/>
            <a:ext cx="368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/ 版本更新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同样在左下角的头像菜单中，选择“检查更新”选项，系统会自动检测并提示下载最新版本，确保你能及时体验最新功能和性能优化。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界面概览：三大核心区域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286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66800" y="3175000"/>
            <a:ext cx="2692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侧边栏 Sidebar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4064000"/>
            <a:ext cx="26924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集成任务列表、全局搜索与项目管理功能，作为工作台的中枢神经系统。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在此处，您可以快速定位、切换工作场景，条理清晰地统筹所有任务，高效开启每一天的工作流。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49800" y="2286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749800" y="3175000"/>
            <a:ext cx="2692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对话区 Conversation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749800" y="4064000"/>
            <a:ext cx="26924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界面的绝对核心，连接您与 AI 的交互阵地。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清晰展示任务标题、上下文消息列表及智能输入框，支持自然语言与代码混合输入，让每一次沟通都流畅精准。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32800" y="22860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432800" y="3175000"/>
            <a:ext cx="2692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结果区 Results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432800" y="4064000"/>
            <a:ext cx="26924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AI 能力的最终交付窗口。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集中展示 AI 生成的产物、关联文件、版本变更记录及实时预览，让您能一站式完成任务的发起、沟通、生成与验收。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发起第一个任务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810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70100"/>
            <a:ext cx="558800" cy="558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78000" y="1968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描述需求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在底部输入框，用一句话清晰地告诉 WorkBuddy 你想做什么。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3810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67100"/>
            <a:ext cx="558800" cy="558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778000" y="3365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选择模型 (可选)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点击模型选择器，为任务匹配最擅长处理它的 AI“大脑”。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572000"/>
            <a:ext cx="3810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864100"/>
            <a:ext cx="558800" cy="558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778000" y="4762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发送指令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点击发送按钮或按下回车键，任务即刻开始处理。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80000" y="1778000"/>
            <a:ext cx="6350000" cy="1778000"/>
          </a:xfrm>
          <a:prstGeom prst="roundRect">
            <a:avLst>
              <a:gd name="adj" fmla="val 8571"/>
            </a:avLst>
          </a:prstGeom>
          <a:solidFill>
            <a:srgbClr val="E6FFFA">
              <a:alpha val="100000"/>
            </a:srgbClr>
          </a:solidFill>
          <a:ln w="12700" cmpd="sng" cap="flat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334000" y="1968500"/>
            <a:ext cx="584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34E4A"/>
                </a:solidFill>
                <a:latin typeface="Noto Sans SC"/>
                <a:ea typeface="Noto Sans SC"/>
                <a:cs typeface="Noto Sans SC"/>
                <a:sym typeface="Noto Sans SC"/>
              </a:rPr>
              <a:t>💡 你可以这样说：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• “帮我把这份销售数据生成一个分析报告”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• “整理这个文件夹里的图片，按拍摄日期批量重命名”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0" y="3810000"/>
            <a:ext cx="6350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334000" y="4000500"/>
            <a:ext cx="5842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📸 操作界面示意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底部输入框 / 模型选择器 / 发送按钮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简洁直观，即刻上手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任务执行与多任务并行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30400"/>
            <a:ext cx="711200" cy="711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032000" y="1841500"/>
            <a:ext cx="368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多任务并行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在一个任务执行的同时，你可以随时在侧边栏点击“+”号，快速新建另一个任务，充分利用时间，提升处理效率。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429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708400"/>
            <a:ext cx="711200" cy="711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032000" y="3619500"/>
            <a:ext cx="368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任务管理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所有任务都会清晰地在侧边栏中列出，你可以随时点击任意任务卡片进行切换，轻松查看不同任务的执行进度和最终结果。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08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359400"/>
            <a:ext cx="711200" cy="711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2032000" y="5270500"/>
            <a:ext cx="3683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上下文隔离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每个任务均为相互独立的会话，历史记录与上下文完全隔离，互不干扰，保障任务处理的准确性与安全性。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651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核心功能深度解析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解锁 WorkBuddy 的全部潜能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968500" y="2794000"/>
            <a:ext cx="889000" cy="889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952500" y="3937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智能任务管理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699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支持多维度任务分类与优先级设定，通过智能算法自动规划日程，帮助你在繁忙的工作中保持专注，提升执行力。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413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651500" y="2794000"/>
            <a:ext cx="889000" cy="889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35500" y="3937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多维数据分析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4699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提供直观的数据看板，可视化展示个人或团队的项目进度、耗时分布及工作产出，为科学决策提供坚实的数据支撑。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413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334500" y="2794000"/>
            <a:ext cx="889000" cy="889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18500" y="3937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无缝团队协作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4699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打破部门壁垒，支持即时沟通、文件共享与共同编辑。通过统一的平台实现信息同步，大幅降低沟通成本，提升团队效率。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工作模式详解：问一问 (Ask)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9558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930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2540000"/>
            <a:ext cx="4597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仅进行问答与信息查看，AI</a:t>
            </a: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不会修改任何文件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，所有交互均在对话层完成，最大程度保证文件原始状态。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3556000"/>
            <a:ext cx="45974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• 快速了解长文档内容、总结要点或提取关键信息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• 向AI确认任务需求、获取初步的处理建议或思路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• 探索性提问，不确定如何操作时的“探路”首选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66800" y="5207000"/>
            <a:ext cx="4597400" cy="812800"/>
          </a:xfrm>
          <a:prstGeom prst="roundRect">
            <a:avLst>
              <a:gd name="adj" fmla="val 12500"/>
            </a:avLst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70000" y="54102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905000" y="5334000"/>
            <a:ext cx="355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安全省心：</a:t>
            </a:r>
            <a:r>
              <a:rPr lang="en-US" b="fals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最安全的模式，适合初次尝试或只需信息查询的场景。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工作模式详解：做一做 (Craft)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334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直接动手 · 高效产出的默认之选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413000"/>
            <a:ext cx="520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这是最常用的模式，AI将根据你的指令</a:t>
            </a:r>
            <a:r>
              <a:rPr lang="en-US" b="tru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直接执行任务并修改文件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。无需复杂的逻辑思考，专注于快速解决具体事务，适合绝大多数日常办公场景。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683000"/>
            <a:ext cx="1651000" cy="177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14400" y="39370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914400" y="4699000"/>
            <a:ext cx="139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文档与创作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生成报告 / 内容润色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603500" y="3683000"/>
            <a:ext cx="1651000" cy="177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755900" y="393700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755900" y="4699000"/>
            <a:ext cx="139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数据与图表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表格处理 / 可视化分析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3683000"/>
            <a:ext cx="1651000" cy="177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597400" y="39370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597400" y="4699000"/>
            <a:ext cx="139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整理与转换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文件重命名 / 格式转换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715000"/>
            <a:ext cx="5334000" cy="889000"/>
          </a:xfrm>
          <a:prstGeom prst="roundRect">
            <a:avLst>
              <a:gd name="adj" fmla="val 11428"/>
            </a:avLst>
          </a:prstGeom>
          <a:solidFill>
            <a:srgbClr val="4FD1C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59055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524000" y="58674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b="fals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效率最高的模式，能直接交付成品。建议先了解AI操作边界，避免误修改。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2032000"/>
            <a:ext cx="4953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工作模式详解：想一想 (Plan)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080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413000" y="2794000"/>
            <a:ext cx="1778000" cy="177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48260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执行计划预览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任务拆解 · 步骤确认 · 透明可控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778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0955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112000" y="19685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核心机制：先计划，再执行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AI 不会立即行动，而是先将复杂任务拆解，生成一份可执行的详细计划。你可审阅、修改并确认后，再让 AI 按计划执行。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3429000"/>
            <a:ext cx="5207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477000" y="38100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112000" y="3619500"/>
            <a:ext cx="406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任务包含多步骤操作，逻辑复杂且有明确顺序要求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需要严格控制修改范围，避免 AI 误操作的场景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初次尝试新功能或复杂流程，希望先理清脉络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5207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55245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112000" y="53975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兼顾效率与安全的进阶之选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既保留了 AI 的高效能力，又通过“计划确认”的步骤为你提供安全保障，推荐熟练用户日常使用。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模型选择：为任务匹配最佳“大脑”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2032000" cy="3048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16666" b="16666"/>
          <a:stretch>
            <a:fillRect/>
          </a:stretch>
        </p:blipFill>
        <p:spPr>
          <a:xfrm rot="0" flipH="false" flipV="false">
            <a:off x="1206500" y="1905000"/>
            <a:ext cx="1143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2921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MiniMax M2.5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3683000"/>
            <a:ext cx="177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适合Excel处理、数据分析、PPT生成，速度快。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984500" y="1651000"/>
            <a:ext cx="2032000" cy="3048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13021" r="13021" t="0" b="0"/>
          <a:stretch>
            <a:fillRect/>
          </a:stretch>
        </p:blipFill>
        <p:spPr>
          <a:xfrm rot="0" flipH="false" flipV="false">
            <a:off x="3429000" y="1905000"/>
            <a:ext cx="1143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3111500" y="2921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智谱 GLM-5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111500" y="3683000"/>
            <a:ext cx="177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适合多步骤、长流程的复杂任务，逻辑推理能力强。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207000" y="1651000"/>
            <a:ext cx="2032000" cy="3048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0" r="0" t="16666" b="16666"/>
          <a:stretch>
            <a:fillRect/>
          </a:stretch>
        </p:blipFill>
        <p:spPr>
          <a:xfrm rot="0" flipH="false" flipV="false">
            <a:off x="5651500" y="1905000"/>
            <a:ext cx="1143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5334000" y="2921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Kimi K2.5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334000" y="3683000"/>
            <a:ext cx="177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适合截图分析、图片转文档等视觉类任务，处理长文本也很顺手。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429500" y="1651000"/>
            <a:ext cx="2032000" cy="3048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rcRect l="30556" r="30556" t="0" b="0"/>
          <a:stretch>
            <a:fillRect/>
          </a:stretch>
        </p:blipFill>
        <p:spPr>
          <a:xfrm rot="0" flipH="false" flipV="false">
            <a:off x="7747000" y="1905000"/>
            <a:ext cx="1397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7556500" y="2921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 V3.2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556500" y="3683000"/>
            <a:ext cx="177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适合日常问答、文案撰写，响应速度极快，性价比高。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652000" y="1651000"/>
            <a:ext cx="2032000" cy="3048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rcRect l="23415" r="23415" t="0" b="0"/>
          <a:stretch>
            <a:fillRect/>
          </a:stretch>
        </p:blipFill>
        <p:spPr>
          <a:xfrm rot="0" flipH="false" flipV="false">
            <a:off x="9969500" y="1905000"/>
            <a:ext cx="1397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2" id="22"/>
          <p:cNvSpPr/>
          <p:nvPr/>
        </p:nvSpPr>
        <p:spPr>
          <a:xfrm rot="0" flipH="false" flipV="false">
            <a:off x="9779000" y="2921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腾讯混元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779000" y="3683000"/>
            <a:ext cx="177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中文语境下表现优异，适合中文写作、会议纪要、文档处理。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080000"/>
            <a:ext cx="10922000" cy="1270000"/>
          </a:xfrm>
          <a:prstGeom prst="roundRect">
            <a:avLst>
              <a:gd name="adj" fmla="val 1600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143000" y="5397500"/>
            <a:ext cx="609600" cy="6096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2032000" y="5270500"/>
            <a:ext cx="927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核心思想：灵活切换，平衡效能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没有万能的模型，只有最合适的选择。根据任务类型的不同灵活切换，才能在保证高质量输出的同时，兼顾效率与成本。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工作目录：为AI划定安全工作区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334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304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905000" y="1803400"/>
            <a:ext cx="393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什么是工作目录？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即 WorkBuddy 读取和保存文件的指定文件夹，是 AI 专属的“私人领地”。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5334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274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905000" y="3200400"/>
            <a:ext cx="393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核心安全防线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严格限定 AI 的操作范围，使其仅在指定目录内活动，极大降低误操作或越权访问风险。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445000"/>
            <a:ext cx="5334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7244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905000" y="4597400"/>
            <a:ext cx="393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灵活设置方式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· 新建任务时：点击输入框上方的文件夹图标快速指定。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· 偏好设置：在全局设置中预设默认工作目录，一劳永逸。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461000"/>
            <a:ext cx="5334000" cy="1143000"/>
          </a:xfrm>
          <a:prstGeom prst="roundRect">
            <a:avLst>
              <a:gd name="adj" fmla="val 8888"/>
            </a:avLst>
          </a:prstGeom>
          <a:solidFill>
            <a:srgbClr val="4FD1C5">
              <a:alpha val="10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6896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905000" y="5613400"/>
            <a:ext cx="393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💡 最佳实践建议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按任务类型建立独立目录（如“发票整理”、“周报汇总”），让工作区更整洁。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60960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图示：设置工作目录的界面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技能(Skills)：赋予AI超能力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1270000"/>
          </a:xfrm>
          <a:prstGeom prst="roundRect">
            <a:avLst>
              <a:gd name="adj" fmla="val 12000"/>
            </a:avLst>
          </a:prstGeom>
          <a:solidFill>
            <a:srgbClr val="E6FFFA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76200" cy="12700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8034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▍ 什么是“技能”？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Skill = 将“怎么干”的执行逻辑封装为模板，让AI直接照着执行，无需重复解释规则。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5207000" cy="1270000"/>
          </a:xfrm>
          <a:prstGeom prst="roundRect">
            <a:avLst>
              <a:gd name="adj" fmla="val 12000"/>
            </a:avLst>
          </a:prstGeom>
          <a:solidFill>
            <a:srgbClr val="E6FFFA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175000"/>
            <a:ext cx="76200" cy="12700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274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▍ 为什么需要技能？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确保输出格式高度统一，实现任务执行流程标准化，有效避免沟通歧义，提升协作效率。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699000"/>
            <a:ext cx="2540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14400" y="4889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33500" y="4864100"/>
            <a:ext cx="177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灵活调用方式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显性调用：</a:t>
            </a: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手动 @Skill，精准可控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隐性调用：</a:t>
            </a: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AI 自主判断，灵活高效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29000" y="4699000"/>
            <a:ext cx="2540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581400" y="4889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000500" y="4864100"/>
            <a:ext cx="1841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丰富内置生态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内置覆盖 20+ 高频场景：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📄 文档处理 | 📊 数据报表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🎨 海报设计 | 📅 日程管理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专家中心：召唤领域专家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9685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930400" y="1968500"/>
            <a:ext cx="368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核心定义：内置预设角色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为您内置了各行各业的专家预设，涵盖法律顾问、资深数据分析师、金牌营销文案等专业身份，无需复杂描述即可快速调用。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06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43815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930400" y="4381500"/>
            <a:ext cx="368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核心价值：专业视角处理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相当于为您提供了预设好的“角色提示词”。只需简单切换，即可让AI自动代入专家身份，用专业的知识储备和口吻来完成任务。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527800" y="19685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391400" y="1968500"/>
            <a:ext cx="368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操作流程：三步轻松搞定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1. 打开专家中心入口 → 2. 浏览并选择所需专家 → 3. 点击“立即召唤”，即可开始对话，高效提效。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406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27800" y="43815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391400" y="4381500"/>
            <a:ext cx="368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广泛覆盖：全场景支持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覆盖平面设计、软件开发、市场营销、自媒体运营、项目管理、法律、财务等数十个主流领域，满足您多样化的专业协作需求。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结果查看：一站式交付验收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4826000" cy="1143000"/>
          </a:xfrm>
          <a:prstGeom prst="roundRect">
            <a:avLst>
              <a:gd name="adj" fmla="val 13333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8415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核心价值：无缝闭环的验收体验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无需离开当前对话窗口，即可一站式完成所有交付结果的检查、对比与最终验收。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175000"/>
            <a:ext cx="2286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4290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3403600"/>
            <a:ext cx="1397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产物视图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聚焦任务产出，快速查看最终生成的文件与核心交付物。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302000" y="3175000"/>
            <a:ext cx="2286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492500" y="3429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000500" y="3403600"/>
            <a:ext cx="1397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全部文件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全局掌控，完整查看当前工作空间下的所有相关文档与资源。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080000"/>
            <a:ext cx="2286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53086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460500" y="5283200"/>
            <a:ext cx="139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变更对比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400"/>
              </a:spcBef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清晰展示文件的具体修改内容，差异一目了然。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302000" y="5080000"/>
            <a:ext cx="2286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492500" y="53086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000500" y="5283200"/>
            <a:ext cx="139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效果预览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400"/>
              </a:spcBef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无需跳转，直接查看网页或应用的真实运行效果。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Claw远程任务：随时随地掌控电脑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41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🔗 核心功能 · Core Function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2D3748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通过手机端微信、QQ、飞书等常用外部渠道，向本地 WorkBuddy 客户端直接下发任务指令。无需复杂配置，即可让电脑像“智能助手”一样为你工作。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302000"/>
            <a:ext cx="1587500" cy="1714500"/>
          </a:xfrm>
          <a:prstGeom prst="roundRect">
            <a:avLst>
              <a:gd name="adj" fmla="val 64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14400" y="3492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33500" y="3454400"/>
            <a:ext cx="88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专属文件交换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指定专属文件夹进行文件传输，路径固定，管理更省心。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501900" y="3302000"/>
            <a:ext cx="1587500" cy="1714500"/>
          </a:xfrm>
          <a:prstGeom prst="roundRect">
            <a:avLst>
              <a:gd name="adj" fmla="val 64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667000" y="3492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086100" y="3454400"/>
            <a:ext cx="88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指令集中管理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所有远程指令汇聚于单一会话窗口，告别分散，便于统一查看。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254500" y="3302000"/>
            <a:ext cx="1587500" cy="1714500"/>
          </a:xfrm>
          <a:prstGeom prst="roundRect">
            <a:avLst>
              <a:gd name="adj" fmla="val 64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406900" y="3492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826000" y="3454400"/>
            <a:ext cx="88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历史全程可溯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完整保留对话与执行记录，关键操作有据可查，安全透明。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207000"/>
            <a:ext cx="5080000" cy="1143000"/>
          </a:xfrm>
          <a:prstGeom prst="roundRect">
            <a:avLst>
              <a:gd name="adj" fmla="val 13333"/>
            </a:avLst>
          </a:prstGeom>
          <a:solidFill>
            <a:srgbClr val="EBFCFA">
              <a:alpha val="100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5461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53975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配置入口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400"/>
              </a:spcBef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打开 WorkBuddy → 点击右上角头像进入「个人中心」 → 找到并进入「Claw 设置」页面完成功能配置。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连接器：连接外部世界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981200" y="2235200"/>
            <a:ext cx="863600" cy="863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3429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定义与核心价值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318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WorkBuddy 与外部服务之间的“智能桥梁”。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打破信息孤岛，实现多平台数据互通与能力扩展，无需在不同工具间频繁切换，提升工作效率。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r="0" t="14079" b="14079"/>
          <a:stretch>
            <a:fillRect/>
          </a:stretch>
        </p:blipFill>
        <p:spPr>
          <a:xfrm rot="0" flipH="false" flipV="false">
            <a:off x="5270500" y="2286000"/>
            <a:ext cx="1651000" cy="88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3429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连接 QQ 邮箱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4318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扫码授权 → 确认权限 → 连接完成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直接用自然语言收发、搜索、整理邮件，让 AI 成为你的私人邮件助理。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rcRect l="0" r="0" t="23076" b="23076"/>
          <a:stretch>
            <a:fillRect/>
          </a:stretch>
        </p:blipFill>
        <p:spPr>
          <a:xfrm rot="0" flipH="false" flipV="false">
            <a:off x="8953500" y="2286000"/>
            <a:ext cx="1651000" cy="88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8382000" y="3429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连接腾讯乐享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4318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打通企业内部知识社区，实现学习、分享与协作的无缝衔接，快速沉淀并复用企业的智慧资产。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自动化：让AI 24小时为你工作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905000" y="18415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针对</a:t>
            </a:r>
            <a:r>
              <a:rPr lang="en-US" b="tru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周期性、重复性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的高频工作，如每日工作简报整理、每周数据周报汇总、行业新闻定时推送等，彻底释放双手。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429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9497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905000" y="3619500"/>
            <a:ext cx="381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简单三步，轻松配置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1. 进入自动化页面，点击“+ 添加任务”开始创建。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2. 设定任务名称、关联工作空间、输入提示词并选择AI模型及执行频率。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3. (可选) 开启“结果推送”，直接在</a:t>
            </a:r>
            <a:r>
              <a:rPr lang="en-US" b="true" i="false" strike="noStrike" u="none" sz="12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WorkBuddy 小程序</a:t>
            </a: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接收产出物。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08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4102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905000" y="5270500"/>
            <a:ext cx="381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预设任务模板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内置“新闻早报”、“周报生成”等高频场景模板，无需手动配置，一键启用。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进阶技巧与最佳实践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从新手到专家的10个关键习惯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20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76200" cy="8636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133600"/>
            <a:ext cx="76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905000" y="2133600"/>
            <a:ext cx="381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善用标签管理任务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通过颜色和关键词对任务分类，让复杂项目条理清晰。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2032000"/>
            <a:ext cx="520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2032000"/>
            <a:ext cx="76200" cy="8636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133600"/>
            <a:ext cx="76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366000" y="2133600"/>
            <a:ext cx="381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巧用快捷键提效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熟记常用操作的快捷键，减少鼠标点击，实现毫秒级响应。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111500"/>
            <a:ext cx="520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111500"/>
            <a:ext cx="76200" cy="8636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3213100"/>
            <a:ext cx="76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905000" y="3213100"/>
            <a:ext cx="381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定时清理与归档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每周五进行归档整理，保持工作区整洁，降低信息干扰。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3111500"/>
            <a:ext cx="520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3111500"/>
            <a:ext cx="76200" cy="8636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3213100"/>
            <a:ext cx="76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366000" y="3213100"/>
            <a:ext cx="381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灵活配置个人视图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根据角色和习惯自定义界面布局，只展示最重要的信息。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4191000"/>
            <a:ext cx="520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191000"/>
            <a:ext cx="76200" cy="8636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16000" y="4292600"/>
            <a:ext cx="76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905000" y="4292600"/>
            <a:ext cx="381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建立自动化工作流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设置任务状态流转规则，减少重复性的人工操作。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23000" y="4191000"/>
            <a:ext cx="520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23000" y="4191000"/>
            <a:ext cx="76200" cy="8636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4292600"/>
            <a:ext cx="76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366000" y="4292600"/>
            <a:ext cx="381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利用模板快速复用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将标准流程保存为模板，新项目一键复用，效率翻倍。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270500"/>
            <a:ext cx="520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5270500"/>
            <a:ext cx="76200" cy="8636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016000" y="5372100"/>
            <a:ext cx="76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905000" y="5372100"/>
            <a:ext cx="381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设置智能提醒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为关键节点设置多级提醒，不错过任何一个重要Deadline。</a:t>
            </a:r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223000" y="5270500"/>
            <a:ext cx="520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223000" y="5270500"/>
            <a:ext cx="76200" cy="8636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477000" y="5372100"/>
            <a:ext cx="76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366000" y="5372100"/>
            <a:ext cx="381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深度利用知识库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将经验沉淀为文档，方便团队查阅，降低沟通成本。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技巧1-3：沟通与执行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540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66800" y="3556000"/>
            <a:ext cx="2692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/ 清晰表达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4572000"/>
            <a:ext cx="2692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遵循“做什么 + 有什么 + 怎么样”公式，准确描述任务要求和预期成果，减少歧义，别让AI去猜测你的意图。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49800" y="2540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749800" y="3556000"/>
            <a:ext cx="2692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/ 小步快跑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749800" y="4572000"/>
            <a:ext cx="2692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面对复杂的大任务，尝试将其拆解为一个个逻辑清晰的小步骤，分步推进，这样既能保证方向正确，也能及时发现偏差并校准。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32800" y="25400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432800" y="3556000"/>
            <a:ext cx="2692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/ 不满意就调整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432800" y="4572000"/>
            <a:ext cx="2692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AI对话是一个多轮交互的过程，不要将第一个回答视为最终结果。如果对结果不满意，提出具体的修改意见，通过不断反馈打磨出更理想的答案。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技巧4-6：策略与方法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286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778000" y="22860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429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先本地后远程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445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先在桌面端熟悉AI的执行方式和风险边界，再逐步放手远程。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49800" y="2286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461000" y="22860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3429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给AI一个身份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4445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善用“专家”功能，让AI站在特定专业视角思考，是最简单的提质手段。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32800" y="22860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9144000" y="22860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3429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给AI看例子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4445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一个具体、好的参考样本，胜过十行抽象的指令要求，能显著降低沟通成本。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技巧7-10：效率与安全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76200" cy="2222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0320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905000" y="1905000"/>
            <a:ext cx="36830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07 / 善用多任务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不同任务开启不同的会话窗口，物理隔离工作流，有效避免上下文信息混淆，保持思路清晰。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651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651000"/>
            <a:ext cx="76200" cy="2222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20320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366000" y="1905000"/>
            <a:ext cx="36830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08 / 易“虾”改，记得备份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AI在处理复杂指令时可能出现不可预期的修改，养成提前保存、准备好回退方案的习惯，安心试错。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91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91000"/>
            <a:ext cx="76200" cy="2222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43000" y="45720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905000" y="4445000"/>
            <a:ext cx="36830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09 / 用好自动化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梳理日常的重复性工作流程，编写提示词模板，让AI自动运行处理，把自己从繁琐中解放出来。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4191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191000"/>
            <a:ext cx="76200" cy="2222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457200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366000" y="4445000"/>
            <a:ext cx="36830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10 / 学会“偷懒”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将机械、低价值的重复劳动全部“外包”给AI，将宝贵的精力集中投入到策略思考、创意激发等高价值工作中。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推荐上手顺序总结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2540000" cy="2667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905000"/>
            <a:ext cx="152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STEP 01 · 基础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6670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学会清晰提需求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精准描述任务目标与预期产出，是用好AI工具的第一步基石。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556000" y="1651000"/>
            <a:ext cx="2540000" cy="2667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8100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318000" y="1905000"/>
            <a:ext cx="152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D8936"/>
                </a:solidFill>
                <a:latin typeface="Noto Sans SC"/>
                <a:ea typeface="Noto Sans SC"/>
                <a:cs typeface="Noto Sans SC"/>
                <a:sym typeface="Noto Sans SC"/>
              </a:rPr>
              <a:t>STEP 02 · 核心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746500" y="26670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分步推进 &amp; 多轮调整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不要追求一步到位，将复杂任务拆解，通过多轮对话迭代出最佳结果。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1651000"/>
            <a:ext cx="2540000" cy="2667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04000" y="1905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112000" y="1905000"/>
            <a:ext cx="152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299E1"/>
                </a:solidFill>
                <a:latin typeface="Noto Sans SC"/>
                <a:ea typeface="Noto Sans SC"/>
                <a:cs typeface="Noto Sans SC"/>
                <a:sym typeface="Noto Sans SC"/>
              </a:rPr>
              <a:t>STEP 03 · 进阶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40500" y="26670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掌握多样化能力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熟悉专家角色、参考优秀样例、并尝试同时处理多任务的能力。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90000" y="1651000"/>
            <a:ext cx="2540000" cy="2667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144000" y="1905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9652000" y="1905000"/>
            <a:ext cx="152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8BB78"/>
                </a:solidFill>
                <a:latin typeface="Noto Sans SC"/>
                <a:ea typeface="Noto Sans SC"/>
                <a:cs typeface="Noto Sans SC"/>
                <a:sym typeface="Noto Sans SC"/>
              </a:rPr>
              <a:t>STEP 04 · 安全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080500" y="26670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备份优先 &amp; 自动化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涉及真实重要文件务必先备份，再逐步尝试远程控制与自动化流程。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699000"/>
            <a:ext cx="10668000" cy="1524000"/>
          </a:xfrm>
          <a:prstGeom prst="roundRect">
            <a:avLst>
              <a:gd name="adj" fmla="val 13333"/>
            </a:avLst>
          </a:prstGeom>
          <a:solidFill>
            <a:srgbClr val="2D374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143000" y="5130800"/>
            <a:ext cx="609600" cy="609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2032000" y="4953000"/>
            <a:ext cx="889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 · CORE PRINCIPLE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600"/>
              </a:spcBef>
            </a:pPr>
            <a:r>
              <a:rPr lang="en-US" b="true" i="false" strike="noStrike" u="none" sz="2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先稳，再快，逐步建立信任。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核心要点回顾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159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905000" y="2032000"/>
            <a:ext cx="368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智能体工作台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WorkBuddy 是一款设计初衷为</a:t>
            </a:r>
            <a:r>
              <a:rPr lang="en-US" b="tru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安全、易用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的智能协作平台，旨在为用户提供可靠的AI助手体验。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27800" y="21590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366000" y="2032000"/>
            <a:ext cx="368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以“执行”为核心价值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不只是生成文本，更在于</a:t>
            </a:r>
            <a:r>
              <a:rPr lang="en-US" b="tru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交付可验收的结果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。从简单指令到复杂任务，都能通过AI智能体高效落地。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9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46990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905000" y="4572000"/>
            <a:ext cx="368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自动化与可控性的平衡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通过灵活的</a:t>
            </a:r>
            <a:r>
              <a:rPr lang="en-US" b="tru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工作模式、专家库、技能组合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等功能，既解放人力，又让流程处于可监控、可干预的状态。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419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27800" y="4699000"/>
            <a:ext cx="609600" cy="609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366000" y="4572000"/>
            <a:ext cx="368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高效使用的三大关键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掌握</a:t>
            </a:r>
            <a:r>
              <a:rPr lang="en-US" b="tru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清晰表达指令、分步拆解执行、及时保存备份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这三个核心技巧，就能充分发挥WorkBuddy的潜力。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开启你的AI工作新纪元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81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让 WorkBuddy 成为你最得力的数字员工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207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 spc="2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 · THANKS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